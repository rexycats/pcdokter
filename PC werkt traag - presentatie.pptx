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4"/>
    <p:sldId id="257" r:id="rId2"/>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D9C6"/>
    <a:srgbClr val="2E9E46"/>
    <a:srgbClr val="2031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3" autoAdjust="0"/>
    <p:restoredTop sz="95441" autoAdjust="0"/>
  </p:normalViewPr>
  <p:slideViewPr>
    <p:cSldViewPr snapToGrid="0">
      <p:cViewPr varScale="1">
        <p:scale>
          <a:sx n="92" d="100"/>
          <a:sy n="92" d="100"/>
        </p:scale>
        <p:origin x="498" y="7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customXml" Target="../customXml/item1.xml"/><Relationship Id="rId10" Type="http://schemas.openxmlformats.org/officeDocument/2006/relationships/customXml" Target="../customXml/item2.xml"/><Relationship Id="rId11" Type="http://schemas.openxmlformats.org/officeDocument/2006/relationships/customXml" Target="../customXml/item3.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Vandaag word je pc-dokter. Iedereen kent het: een pc die traag is. Vandaag leer je in acht hoofdstukken waar dat aan ligt en wat je eraan kan doen. Na hoofdstuk 4 is er 15 minuten pauze. Na de uitleg oefen je in de app Trage pc-dokter, onderzoek je je eigen pc en maak je een eindtoets. Hou je eigen laptop klaar: we kijken vaak samen in Taakbeheer.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Lees de doelen voor. Zeg: je hoeft niets over te schrijven, alles komt terug op het werkblad en in de app. Wie een laptop heeft, mag tijdens de demo's meedoen op zijn eigen toestel: die heb je straks ook nodig voor het werkblad.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software is alles wat je niet kan vastnemen (programma's, Windows, instellingen), hardware zijn de onderdelen. Bij veel oorzaken spelen ze allebei mee. Overloop de tabel kort: elk hoofdstuk van vandaag is één rij. Nieuw ten opzichte van de cursusdia's: synchronisatie (OneDrive, Google Drive) die op de achtergrond uploadt en downloadt, dat zien we in H9. Vraag: welke oorzaken los je op zonder iets te kopen? Antwoord: opstartprogramma's, te veel tegelijk, updates, virussen, opruimen, synchronisatie. Let op: traag internet is iets anders dan een trage pc.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Taakbeheer op je eigen pc met Ctrl + Shift + Esc. Klik op "Meer details" als je enkel een kort lijstje ziet. Toon de drie tabbladen die we vandaag gebruiken. In Windows 11 staan de tabbladen als icoontjes in een balk links. Laat de leerlingen meedoen op hun laptop. Vraag: wat is het verschil met Ctrl + Alt + Delete? Antwoord: dat geeft eerst een beveiligingsscherm (vergrendelen, afmelden, Taakbeheer). Ctrl + Shift + Esc gaat rechtstreeks.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Taakbeheer is de eerste stap, maar Windows heeft meer analysetools. Demo: typ resmon in het startmenu (Broncontrole) en toon het tabblad Schijf: welk proces leest of schrijft welk bestand. Typ daarna "betrouwbaarheid" en open Betrouwbaarheidsgeschiedenis: elke rode X is een crash of mislukte update; klik op een dag en lees onderaan. Toon msinfo32 kort (dat kennen ze van de les PC-hardware). Prestatiemeter met perfmon /report maakt na 60 seconden een systeemdiagnoserapport, maar vraagt beheerdersrechten: toon het enkel als je pc dat toelaat. CrystalDiskInfo is een gratis programma om de gezondheid van de schijf te lezen; dat komt terug in H8. Vraag: welke tool gebruik je als de pc de laatste week vaak vastliep? Antwoord: Betrouwbaarheidsgeschiedenis.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Elke keer je je aanmeldt, starten niet alleen Windows maar ook allerlei programma's: Spotify, Teams, Steam, de updater van je printer. Ze vertragen het opstarten en blijven daarna geheugen gebruiken. Demo: Ctrl + Shift + Esc, tabblad Opstarten, klik op de kolomkop Invloed op opstarten. Rechtsklik op een programma met invloed Hoog en kies Uitschakelen. Toon ook de weg via Instellingen, Apps, Opstarten: dezelfde lijst met schakelaars. Vraag: is het programma nu weg? Antwoord: nee, het start alleen niet meer vanzelf.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Overloop de lijst. Begin bij de invloed Hoog: daar is de meeste winst. Teams, Spotify en Steam start je zelf wanneer je ze nodig hebt. De antivirus laat je aan, anders ben je onbeschermd. Realtek en Synaptics zijn stuurprogramma's: zonder die werkt je geluid of touchpad soms niet goed. Twijfel je over een naam? Rechtsklik en kies Online zoeken, dat staat ook op de schermafdruk in de cursus. Laat leerlingen op hun eigen laptop één programma zoeken dat ze zouden uitschakelen (nog niet doen als het niet hun eigen toestel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Niet alleen opstartprogramma's draaien op de achtergrond. Achtergrond-apps blijven meldingen tonen, synchroniseren of updaten, ook als hun venster dicht is. In Windows 11 beperk je dat per app: Instellingen, Apps, Geïnstalleerde apps, drie puntjes, Geavanceerde opties, Machtigingen voor achtergrond-apps: Nooit. Die optie bestaat niet bij elke app. Programma's in het systeemvak naast de klok sluit je met rechtsklik, Afsluiten. Browserextensies: elke extensie draait mee in de browser. Demo: druk in Chrome of Edge op Shift + Esc. Dat is het taakbeheer van de browser: je ziet per tabblad en per extensie hoeveel geheugen en processor het gebruikt. Ruim ongebruikte extensies op via chrome://extensions of edge://extensions.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Elk programma vermeldt wat het nodig heeft. Minimum betekent: het start, maar vaak traag. Aanbevolen betekent: het werkt zoals de makers het bedoeld hebben. Kijk dus naar de aanbevolen vereisten. Demo: open de winkelpagina van een bekend spel of programma (bv. op Steam of de site van de maker) en zoek de systeemvereisten. Toon daarna Instellingen, Systeem, Info op je pc en vergelijk samen. Op Android-toestellen gebeurt dit meestal automatisch: een app die niet past, vind je vaak niet eens terug in de Play Store.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met de keuken: de chef werkt op een werkblad, dat is het RAM. Als het werkblad vol ligt, moet hij telkens naar de kelder lopen om iets te halen en iets weg te zetten. Die kelder is het wisselbestand op de schijf. Dat gaat veel trager, en dan hapert alles. Daarom: sluit wat je niet gebruikt. Vraag: hoeveel tabbladen heb jij nu open? Laat ze tellen. Blijft het geheugen ook met weinig open bijna vol, dan heeft de pc gewoon te weinig RAM (H4).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Taakbeheer, Processen, op je eigen pc en klik op de kolomkop Geheugen om te sorteren. Leg uit met dit voorbeeld: geheugen staat op 91 %, dat is bijna vol: de bottleneck. In die kolom gebruikt Chrome met 34 tabbladen het meest. Oplossing: tabbladen sluiten. Reageert een programma niet meer: rechtsklik, Taak beëindigen. Waarschuw: wat niet opgeslagen is, ben je dan kwijt. Antimalware Service Executable is Microsoft Defender: die laat je staan.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Taakbeheer, Prestaties. Klik CPU, Geheugen, Schijf 0 en GPU aan. Toon bij Schijf 0 rechtsboven het type: SSD of HDD. Toon bij Geheugen rechtsboven het totaal en onderaan "Sleuven gebruikt". Vertel: een pc wordt niet echt trager met de jaren, maar programma's en websites vragen steeds meer. Je zoekt het onderdeel dat het eerst op 100 % zit. Doe dit bij gewoon gebruik: dat een zwaar spel de GPU op 100 % zet, is normaal.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Zoek eerst het zwakste onderdeel, kies dan de goedkoopste oplossing die dat probleem echt oplost. Een SSD is bij een pc met een harde schijf bijna altijd de beste investering. Extra RAM helpt alleen als het geheugen vol zit. Link met de vorige les: een processor moet in de processorvoet passen en RAM moet de juiste DDR-generatie hebben. Vraag: een pc uit 2015 met 8 GB RAM en een HDD. Wat koop je? Antwoord: een SSD.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Deel het werkblad uit (leerlingenversie). De cursisten maken vragen 1 tot 24, ongeveer 25 minuten. Loop rond en help bij de vragen op de eigen pc (vragen 6 en 20): Laatste BIOS-tijd staat rechtsboven in Taakbeheer, Opstarten; SSD of HDD staat rechtsboven bij Prestaties, Schijf 0. Wie snel klaar is, mag al in de app oefenen. De oplossingen staan in de leerkrachtversie. Bespreek deel 1 kort na de pauze.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Pauze van 10:15 tot 10:30. Bespreek na de pauze kort deel 1 van het werkblad (5 minuten): vooral vraag 1 (software of hardware), 13 (systeemvereisten) en 19 (wat sluit Sara?).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Een update maakt de pc even trager, want hij downloadt en installeert op de achtergrond. Maar zonder updates blijven beveiligingslekken open en blijven fouten bestaan. Een mislukte update kan een pc ook blijvend vertragen. Demo: Instellingen, Windows Update. Klik Naar updates zoeken. Open Updategeschiedenis: toon mislukte updates en Updates verwijderen. Open Geavanceerde opties: zet Updates voor andere Microsoft-producten ontvangen aan, en toon Actieve uren. Voor andere programma's: open Terminal en typ winget upgrade om te zien wat er verouderd is; met winget upgrade --all werk je alles bij. Patch My PC is een gratis grafisch alternatief. Updates helemaal uitschakelen is geen goede oplossing.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De vier regels uit de cursus, met uitleg. Eén: één realtime antivirus. Realtime betekent dat hij elk bestand controleert op het moment dat je het opent of downloadt. Twee bewakers die elk iedereen fouilleren, maken de rij dubbel zo lang. Twee: af en toe een tweede mening, met een scanner die je zelf start en die niet blijft draaien. Drie: updaten en scannen. Vier: uitschakelen enkel als uitzondering, bijvoorbeeld als een installatie van betrouwbare software vastloopt: kort uit, liefst zonder internetverbinding, en meteen weer aan. Demo: Windows-beveiliging, Virus- en bedreigingsbeveiliging, Scanopties. Microsoft Defender volstaat voor de meeste mensen; installeer je een andere antivirus, dan gaat Defender vanzelf opzij.</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Malware is de verzamelnaam. Overloop de soorten kort en vraag telkens: maakt deze de pc traag? Vooral de cryptominer: die gebruikt je processor om geld te verdienen voor iemand anders, dus de CPU staat hoog zonder reden en de ventilator draait voluit. Adware en spyware draaien ook voortdurend op de achtergrond. Ransomware is het gevaarlijkst voor je bestanden: daarom een back-up. Potentieel ongewenste apps (PUP) zijn geen echte virussen, maar werkbalken en zogenaamde pc-optimizers die meeliften met gratis software. Demo: Windows-beveiliging, App- en browserbeheer, Bescherming op basis van reputatie: zet Potentieel ongewenste apps blokkeren aan.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Vóór Windows er is, werkt de firmware op het moederbord: het BIOS, of bij moderne pc's de opvolger UEFI. Die doet eerst de POST, de Power-On Self-Test: zijn processor, geheugen, toetsenbord, schijven in orde? Dan zoekt hij volgens de bootvolgorde een schijf met een besturingssysteem. Pas daarna komt Windows, dan aanmelden, dan de opstartprogramma's uit H2. Demo: Taakbeheer, Opstarten, rechtsboven Laatste BIOS-tijd. Vraag: wie heeft meer dan 15 seconden? Link met vorige les: het BIOS staat in flash-ROM, en een BIOS-update heet flashen.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De cursus zegt "schakel alle posts uit in de BIOS". Dat moet je lezen als: maak de POST zo kort mogelijk. Helemaal uitschakelen kan niet: de pc moet weten of zijn geheugen werkt. Met Fast Boot of Quick Boot slaat de firmware tragere tests over, zoals het geheugen volledig testen en alle usb-poorten aflopen. De bootvolgorde: als de pc eerst het netwerk of een usb-stick probeert, wacht hij telkens even. Zet de Windows-schijf bovenaan. Ongebruikte hardware: elk toestel moet getest worden, dus wat je niet gebruikt kan uit of eruit. Demo: als het kan, start een pc op en toon het UEFI-menu met F2 of Del. Laat leerlingen dit niet zelf doen op schoolpc's.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Een HDD werkt als een platenspeler: de schijf draait en een leeskop beweegt naar de juiste plek. Dat kost telkens tijd. Een SSD heeft geen bewegende delen, net als een usb-stick, maar veel sneller. De cursus noemt ook de SSHD: een harde schijf met een stukje flashgeheugen. Die is iets sneller dan een HDD, maar vandaag zijn SSD's zo betaalbaar dat je bijna altijd voor een SSD kiest. NVMe is de snelste soort: een reepje dat rechtstreeks op het moederbord zit. Demo: Taakbeheer, Prestaties, Schijf 0: rechtsboven staat SSD of HDD.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harde schijf slijt: de platen draaien en de leeskop beweegt. Signalen van een stervende schijf: klikkende of schurende geluiden, bestanden die heel traag openen, foutmeldingen bij kopiëren, vastlopers. Schijven houden zelf een gezondheidsrapport bij: SMART. Met het gratis programma CrystalDiskInfo lees je dat: Goed, Let op of Slecht. Bij Let op of Slecht: eerst een back-up, dan de schijf vervangen, liefst door een SSD. Foutcontrole: Verkenner, rechtsklik op C:, Eigenschappen, Extra, Controleren (of chkdsk in de opdrachtprompt). Een HDD defragmenteren helpt wél, maar dat doet Windows wekelijks zelf via Stations optimaliseren. Een SSD defragmenteer je niet.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Vertel: Een bijna volle schijf maakt elke pc traag, ook met een SSD, en updates mislukken. Bereken het percentage vrije ruimte: vrij gedeeld door totaal, maal 100. Onder 10 % is te vol. Demo: typ Schijfopruiming in het startmenu, kies station C, klik daarna op Systeembestanden opschonen om ook oude updatebestanden mee te nemen. Toon ook Instellingen, Systeem, Opslag: daar zie je per categorie wat ruimte inneemt. Laat leerlingen hun eigen percentage uitrekenen; dat moeten ze straks ook in de praktijkopdracht.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Nieuw hoofdstuk, niet in de cursusdia's. OneDrive, Google Drive, Dropbox en iCloud houden dezelfde bestanden gelijk op je pc en in de cloud. Elke wijziging wordt geüpload of gedownload: dat kost internet, schijf en processor. Vooral traag bij de eerste synchronisatie, bij duizenden foto's of grote video's, of als twee sync-apps tegelijk werken. Demo: klik op het OneDrive-wolkje in het systeemvak, tandwiel, Synchronisatie onderbreken: 2, 8 of 24 uur. Toon ook Instellingen, Account, Mappen kiezen: zo synchroniseer je grote mappen niet naar deze pc. Belangrijk: synchronisatie is geen back-up. Verwijder je een bestand, dan verdwijnt het overal; ook ransomware wordt mee gesynchroniseerd.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 Bestanden op aanvraag staan je bestanden in Verkenner, maar ze nemen pas ruimte in als je ze opent. Toon in Verkenner de kolom Status met de icoontjes. Blauw wolkje: alleen online. Wit rondje met groen vinkje: lokaal beschikbaar omdat je het opende. Groen rondje met wit vinkje: altijd behouden, ook offline. Blauwe pijltjes: bezig met synchroniseren. Rechtsklik op een map: Ruimte vrijmaken zet bestanden terug naar alleen online. Opslagsensor (Instellingen, Systeem, Opslag) kan dat automatisch doen met bestanden die je lang niet opende. Zo help je ook een te volle schijf (H8).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cursisten maken vragen 29 tot 59, ongeveer 22 minuten. Vraag 60 (pc-dokter) is extra voor wie klaar is, of een thuisopdracht. Wie tijd tekort komt, slaat de vragen op de eigen pc over (37 en 59). Bespreek daarna 5 minuten met de leerkrachtversie: vooral vraag 42 (volgorde opstarten), 44 (de POST kan niet uit), 49 (misverstanden over SSD en vrije ruimte wissen), 52 (CrystalDiskInfo: eerst een back-up) en 58 (synchronisatie is geen back-up).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Deel de link van de app; de app moet gedeeld zijn via de knop Delen. Eerst Oefenen: per oefening minstens één juist antwoord, dan gaat de eindtoets open. Daarna de eindtoets: 30 vragen, rapport met controlecode, screenshot. Wie niet klaar raakt met oefenen: met leerkrachtcode 2026 (knop Leerkracht) ontgrendel je de toets op dat toestel. Praktijk (eigen pc onderzoeken) is extra of een thuisopdracht.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normAutofit/>
          </a:bodyPr>
          <a:lstStyle>
            <a:lvl1pPr algn="ctr">
              <a:defRPr sz="4800">
                <a:solidFill>
                  <a:srgbClr val="203157"/>
                </a:solidFill>
                <a:latin typeface="Arial" panose="020B0604020202020204" pitchFamily="34" charset="0"/>
                <a:cs typeface="Arial" panose="020B0604020202020204" pitchFamily="34" charset="0"/>
              </a:defRPr>
            </a:lvl1pPr>
          </a:lstStyle>
          <a:p>
            <a:r>
              <a:rPr lang="nl-NL" dirty="0" smtClean="0"/>
              <a:t>Klik om de stijl te bewerken</a:t>
            </a:r>
            <a:endParaRPr lang="nl-BE" dirty="0"/>
          </a:p>
        </p:txBody>
      </p:sp>
      <p:sp>
        <p:nvSpPr>
          <p:cNvPr id="3" name="Ondertitel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65000"/>
                    <a:lumOff val="3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smtClean="0"/>
              <a:t>Klik om de ondertitelstijl van het model te bewerken</a:t>
            </a:r>
            <a:endParaRPr lang="nl-BE" dirty="0"/>
          </a:p>
        </p:txBody>
      </p:sp>
      <p:sp>
        <p:nvSpPr>
          <p:cNvPr id="4" name="Tijdelijke aanduiding voor datum 3"/>
          <p:cNvSpPr>
            <a:spLocks noGrp="1"/>
          </p:cNvSpPr>
          <p:nvPr>
            <p:ph type="dt" sz="half" idx="10"/>
          </p:nvPr>
        </p:nvSpPr>
        <p:spPr/>
        <p:txBody>
          <a:body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ED2816A2-A784-45CB-8129-C1481338D718}" type="slidenum">
              <a:rPr lang="nl-BE" smtClean="0"/>
              <a:t>‹nr.›</a:t>
            </a:fld>
            <a:endParaRPr lang="nl-BE"/>
          </a:p>
        </p:txBody>
      </p:sp>
    </p:spTree>
    <p:extLst>
      <p:ext uri="{BB962C8B-B14F-4D97-AF65-F5344CB8AC3E}">
        <p14:creationId xmlns:p14="http://schemas.microsoft.com/office/powerpoint/2010/main" val="37578386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oofdtitel met tekst">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838200" y="2244437"/>
            <a:ext cx="10515600" cy="3626428"/>
          </a:xfrm>
        </p:spPr>
        <p:txBody>
          <a:bodyPr>
            <a:normAutofit/>
          </a:bodyPr>
          <a:lstStyle>
            <a:lvl1pPr marL="0" indent="0">
              <a:buNone/>
              <a:defRPr sz="2000">
                <a:solidFill>
                  <a:schemeClr val="tx1">
                    <a:lumMod val="65000"/>
                    <a:lumOff val="3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smtClean="0"/>
              <a:t>Tekststijl van het model bewerken</a:t>
            </a:r>
          </a:p>
        </p:txBody>
      </p:sp>
      <p:sp>
        <p:nvSpPr>
          <p:cNvPr id="4" name="Tijdelijke aanduiding voor datum 3"/>
          <p:cNvSpPr>
            <a:spLocks noGrp="1"/>
          </p:cNvSpPr>
          <p:nvPr>
            <p:ph type="dt" sz="half" idx="10"/>
          </p:nvPr>
        </p:nvSpPr>
        <p:spPr/>
        <p:txBody>
          <a:body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ED2816A2-A784-45CB-8129-C1481338D718}" type="slidenum">
              <a:rPr lang="nl-BE" smtClean="0"/>
              <a:t>‹nr.›</a:t>
            </a:fld>
            <a:endParaRPr lang="nl-BE"/>
          </a:p>
        </p:txBody>
      </p:sp>
      <p:sp>
        <p:nvSpPr>
          <p:cNvPr id="8"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Tree>
    <p:extLst>
      <p:ext uri="{BB962C8B-B14F-4D97-AF65-F5344CB8AC3E}">
        <p14:creationId xmlns:p14="http://schemas.microsoft.com/office/powerpoint/2010/main" val="411845947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wone tekst">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838200" y="1617663"/>
            <a:ext cx="10515600" cy="4325937"/>
          </a:xfrm>
        </p:spPr>
        <p:txBody>
          <a:bodyPr>
            <a:normAutofit/>
          </a:bodyPr>
          <a:lstStyle>
            <a:lvl1pPr marL="0" indent="0">
              <a:buNone/>
              <a:defRPr sz="2000">
                <a:solidFill>
                  <a:schemeClr val="tx1">
                    <a:lumMod val="65000"/>
                    <a:lumOff val="3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smtClean="0"/>
              <a:t>Tekststijl van het model bewerken</a:t>
            </a:r>
          </a:p>
        </p:txBody>
      </p:sp>
      <p:sp>
        <p:nvSpPr>
          <p:cNvPr id="4" name="Tijdelijke aanduiding voor datum 3"/>
          <p:cNvSpPr>
            <a:spLocks noGrp="1"/>
          </p:cNvSpPr>
          <p:nvPr>
            <p:ph type="dt" sz="half" idx="10"/>
          </p:nvPr>
        </p:nvSpPr>
        <p:spPr/>
        <p:txBody>
          <a:body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ED2816A2-A784-45CB-8129-C1481338D718}" type="slidenum">
              <a:rPr lang="nl-BE" smtClean="0"/>
              <a:t>‹nr.›</a:t>
            </a:fld>
            <a:endParaRPr lang="nl-BE"/>
          </a:p>
        </p:txBody>
      </p:sp>
    </p:spTree>
    <p:extLst>
      <p:ext uri="{BB962C8B-B14F-4D97-AF65-F5344CB8AC3E}">
        <p14:creationId xmlns:p14="http://schemas.microsoft.com/office/powerpoint/2010/main" val="232224608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ofdtitel met opsomming">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ED2816A2-A784-45CB-8129-C1481338D718}" type="slidenum">
              <a:rPr lang="nl-BE" smtClean="0"/>
              <a:t>‹nr.›</a:t>
            </a:fld>
            <a:endParaRPr lang="nl-BE"/>
          </a:p>
        </p:txBody>
      </p:sp>
      <p:sp>
        <p:nvSpPr>
          <p:cNvPr id="10" name="Tijdelijke aanduiding voor inhoud 3"/>
          <p:cNvSpPr>
            <a:spLocks noGrp="1"/>
          </p:cNvSpPr>
          <p:nvPr>
            <p:ph sz="half" idx="2"/>
          </p:nvPr>
        </p:nvSpPr>
        <p:spPr>
          <a:xfrm>
            <a:off x="838200" y="2253614"/>
            <a:ext cx="10515600" cy="3534122"/>
          </a:xfrm>
        </p:spPr>
        <p:txBody>
          <a:bodyPr/>
          <a:lstStyle>
            <a:lvl1pPr>
              <a:defRPr sz="2000">
                <a:solidFill>
                  <a:schemeClr val="tx1">
                    <a:lumMod val="65000"/>
                    <a:lumOff val="35000"/>
                  </a:schemeClr>
                </a:solidFill>
                <a:latin typeface="Arial" panose="020B0604020202020204" pitchFamily="34" charset="0"/>
                <a:cs typeface="Arial" panose="020B0604020202020204" pitchFamily="34" charset="0"/>
              </a:defRPr>
            </a:lvl1pPr>
            <a:lvl2pPr>
              <a:defRPr sz="2000">
                <a:solidFill>
                  <a:schemeClr val="tx1">
                    <a:lumMod val="65000"/>
                    <a:lumOff val="35000"/>
                  </a:schemeClr>
                </a:solidFill>
                <a:latin typeface="Arial" panose="020B0604020202020204" pitchFamily="34" charset="0"/>
                <a:cs typeface="Arial" panose="020B0604020202020204" pitchFamily="34" charset="0"/>
              </a:defRPr>
            </a:lvl2pPr>
            <a:lvl3pPr>
              <a:defRPr sz="1800">
                <a:solidFill>
                  <a:schemeClr val="tx1">
                    <a:lumMod val="65000"/>
                    <a:lumOff val="35000"/>
                  </a:schemeClr>
                </a:solidFill>
                <a:latin typeface="Arial" panose="020B0604020202020204" pitchFamily="34" charset="0"/>
                <a:cs typeface="Arial" panose="020B0604020202020204" pitchFamily="34" charset="0"/>
              </a:defRPr>
            </a:lvl3pPr>
            <a:lvl4pPr>
              <a:defRPr sz="1600">
                <a:solidFill>
                  <a:schemeClr val="tx1">
                    <a:lumMod val="65000"/>
                    <a:lumOff val="35000"/>
                  </a:schemeClr>
                </a:solidFill>
                <a:latin typeface="Arial" panose="020B0604020202020204" pitchFamily="34" charset="0"/>
                <a:cs typeface="Arial" panose="020B0604020202020204" pitchFamily="34" charset="0"/>
              </a:defRPr>
            </a:lvl4pPr>
            <a:lvl5pPr>
              <a:defRPr sz="1400">
                <a:solidFill>
                  <a:schemeClr val="tx1">
                    <a:lumMod val="65000"/>
                    <a:lumOff val="35000"/>
                  </a:schemeClr>
                </a:solidFill>
                <a:latin typeface="Arial" panose="020B0604020202020204" pitchFamily="34" charset="0"/>
                <a:cs typeface="Arial" panose="020B0604020202020204" pitchFamily="34" charset="0"/>
              </a:defRPr>
            </a:lvl5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7"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Tree>
    <p:extLst>
      <p:ext uri="{BB962C8B-B14F-4D97-AF65-F5344CB8AC3E}">
        <p14:creationId xmlns:p14="http://schemas.microsoft.com/office/powerpoint/2010/main" val="268099037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ED2816A2-A784-45CB-8129-C1481338D718}" type="slidenum">
              <a:rPr lang="nl-BE" smtClean="0"/>
              <a:t>‹nr.›</a:t>
            </a:fld>
            <a:endParaRPr lang="nl-BE"/>
          </a:p>
        </p:txBody>
      </p:sp>
    </p:spTree>
    <p:extLst>
      <p:ext uri="{BB962C8B-B14F-4D97-AF65-F5344CB8AC3E}">
        <p14:creationId xmlns:p14="http://schemas.microsoft.com/office/powerpoint/2010/main" val="411393597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oofdtitel met 2 tekstkolommen">
    <p:spTree>
      <p:nvGrpSpPr>
        <p:cNvPr id="1" name=""/>
        <p:cNvGrpSpPr/>
        <p:nvPr/>
      </p:nvGrpSpPr>
      <p:grpSpPr>
        <a:xfrm>
          <a:off x="0" y="0"/>
          <a:ext cx="0" cy="0"/>
          <a:chOff x="0" y="0"/>
          <a:chExt cx="0" cy="0"/>
        </a:xfrm>
      </p:grpSpPr>
      <p:sp>
        <p:nvSpPr>
          <p:cNvPr id="3" name="Tijdelijke aanduiding voor inhoud 2"/>
          <p:cNvSpPr>
            <a:spLocks noGrp="1"/>
          </p:cNvSpPr>
          <p:nvPr>
            <p:ph sz="half" idx="1"/>
          </p:nvPr>
        </p:nvSpPr>
        <p:spPr>
          <a:xfrm>
            <a:off x="838200" y="2254429"/>
            <a:ext cx="5181600" cy="3254830"/>
          </a:xfrm>
        </p:spPr>
        <p:txBody>
          <a:bodyPr/>
          <a:lstStyle>
            <a:lvl1pPr>
              <a:defRPr>
                <a:solidFill>
                  <a:schemeClr val="tx1">
                    <a:lumMod val="65000"/>
                    <a:lumOff val="35000"/>
                  </a:schemeClr>
                </a:solidFill>
                <a:latin typeface="Arial" panose="020B0604020202020204" pitchFamily="34" charset="0"/>
                <a:cs typeface="Arial" panose="020B0604020202020204" pitchFamily="34" charset="0"/>
              </a:defRPr>
            </a:lvl1pPr>
            <a:lvl2pPr>
              <a:defRPr sz="2000">
                <a:solidFill>
                  <a:schemeClr val="tx1">
                    <a:lumMod val="65000"/>
                    <a:lumOff val="35000"/>
                  </a:schemeClr>
                </a:solidFill>
                <a:latin typeface="Arial" panose="020B0604020202020204" pitchFamily="34" charset="0"/>
                <a:cs typeface="Arial" panose="020B0604020202020204" pitchFamily="34" charset="0"/>
              </a:defRPr>
            </a:lvl2pPr>
            <a:lvl3pPr>
              <a:defRPr sz="1800">
                <a:solidFill>
                  <a:schemeClr val="tx1">
                    <a:lumMod val="65000"/>
                    <a:lumOff val="35000"/>
                  </a:schemeClr>
                </a:solidFill>
                <a:latin typeface="Arial" panose="020B0604020202020204" pitchFamily="34" charset="0"/>
                <a:cs typeface="Arial" panose="020B0604020202020204" pitchFamily="34" charset="0"/>
              </a:defRPr>
            </a:lvl3pPr>
            <a:lvl4pPr>
              <a:defRPr sz="1600">
                <a:solidFill>
                  <a:schemeClr val="tx1">
                    <a:lumMod val="65000"/>
                    <a:lumOff val="35000"/>
                  </a:schemeClr>
                </a:solidFill>
                <a:latin typeface="Arial" panose="020B0604020202020204" pitchFamily="34" charset="0"/>
                <a:cs typeface="Arial" panose="020B0604020202020204" pitchFamily="34" charset="0"/>
              </a:defRPr>
            </a:lvl4pPr>
            <a:lvl5pPr>
              <a:defRPr sz="1400">
                <a:solidFill>
                  <a:schemeClr val="tx1">
                    <a:lumMod val="65000"/>
                    <a:lumOff val="35000"/>
                  </a:schemeClr>
                </a:solidFill>
                <a:latin typeface="Arial" panose="020B0604020202020204" pitchFamily="34" charset="0"/>
                <a:cs typeface="Arial" panose="020B0604020202020204" pitchFamily="34" charset="0"/>
              </a:defRPr>
            </a:lvl5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4" name="Tijdelijke aanduiding voor inhoud 3"/>
          <p:cNvSpPr>
            <a:spLocks noGrp="1"/>
          </p:cNvSpPr>
          <p:nvPr>
            <p:ph sz="half" idx="2"/>
          </p:nvPr>
        </p:nvSpPr>
        <p:spPr>
          <a:xfrm>
            <a:off x="6172200" y="2254429"/>
            <a:ext cx="5181600" cy="3254830"/>
          </a:xfrm>
        </p:spPr>
        <p:txBody>
          <a:bodyPr/>
          <a:lstStyle>
            <a:lvl1pPr>
              <a:defRPr>
                <a:solidFill>
                  <a:schemeClr val="tx1">
                    <a:lumMod val="65000"/>
                    <a:lumOff val="35000"/>
                  </a:schemeClr>
                </a:solidFill>
                <a:latin typeface="Arial" panose="020B0604020202020204" pitchFamily="34" charset="0"/>
                <a:cs typeface="Arial" panose="020B0604020202020204" pitchFamily="34" charset="0"/>
              </a:defRPr>
            </a:lvl1pPr>
            <a:lvl2pPr>
              <a:defRPr sz="2000">
                <a:solidFill>
                  <a:schemeClr val="tx1">
                    <a:lumMod val="65000"/>
                    <a:lumOff val="35000"/>
                  </a:schemeClr>
                </a:solidFill>
                <a:latin typeface="Arial" panose="020B0604020202020204" pitchFamily="34" charset="0"/>
                <a:cs typeface="Arial" panose="020B0604020202020204" pitchFamily="34" charset="0"/>
              </a:defRPr>
            </a:lvl2pPr>
            <a:lvl3pPr>
              <a:defRPr sz="1800">
                <a:solidFill>
                  <a:schemeClr val="tx1">
                    <a:lumMod val="65000"/>
                    <a:lumOff val="35000"/>
                  </a:schemeClr>
                </a:solidFill>
                <a:latin typeface="Arial" panose="020B0604020202020204" pitchFamily="34" charset="0"/>
                <a:cs typeface="Arial" panose="020B0604020202020204" pitchFamily="34" charset="0"/>
              </a:defRPr>
            </a:lvl3pPr>
            <a:lvl4pPr>
              <a:defRPr sz="1600">
                <a:solidFill>
                  <a:schemeClr val="tx1">
                    <a:lumMod val="65000"/>
                    <a:lumOff val="35000"/>
                  </a:schemeClr>
                </a:solidFill>
                <a:latin typeface="Arial" panose="020B0604020202020204" pitchFamily="34" charset="0"/>
                <a:cs typeface="Arial" panose="020B0604020202020204" pitchFamily="34" charset="0"/>
              </a:defRPr>
            </a:lvl4pPr>
            <a:lvl5pPr>
              <a:defRPr sz="1400">
                <a:solidFill>
                  <a:schemeClr val="tx1">
                    <a:lumMod val="65000"/>
                    <a:lumOff val="35000"/>
                  </a:schemeClr>
                </a:solidFill>
                <a:latin typeface="Arial" panose="020B0604020202020204" pitchFamily="34" charset="0"/>
                <a:cs typeface="Arial" panose="020B0604020202020204" pitchFamily="34" charset="0"/>
              </a:defRPr>
            </a:lvl5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5" name="Tijdelijke aanduiding voor datum 4"/>
          <p:cNvSpPr>
            <a:spLocks noGrp="1"/>
          </p:cNvSpPr>
          <p:nvPr>
            <p:ph type="dt" sz="half" idx="10"/>
          </p:nvPr>
        </p:nvSpPr>
        <p:spPr/>
        <p:txBody>
          <a:bodyPr/>
          <a:lstStyle/>
          <a:p>
            <a:fld id="{9669CD0A-7A53-4AE3-868C-A2B1771F2E60}" type="datetimeFigureOut">
              <a:rPr lang="nl-BE" smtClean="0"/>
              <a:t>28/04/2020</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ED2816A2-A784-45CB-8129-C1481338D718}" type="slidenum">
              <a:rPr lang="nl-BE" smtClean="0"/>
              <a:t>‹nr.›</a:t>
            </a:fld>
            <a:endParaRPr lang="nl-BE"/>
          </a:p>
        </p:txBody>
      </p:sp>
      <p:sp>
        <p:nvSpPr>
          <p:cNvPr id="9"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Tree>
    <p:extLst>
      <p:ext uri="{BB962C8B-B14F-4D97-AF65-F5344CB8AC3E}">
        <p14:creationId xmlns:p14="http://schemas.microsoft.com/office/powerpoint/2010/main" val="20185587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oofdtitel met kolommen en subtitels">
    <p:spTree>
      <p:nvGrpSpPr>
        <p:cNvPr id="1" name=""/>
        <p:cNvGrpSpPr/>
        <p:nvPr/>
      </p:nvGrpSpPr>
      <p:grpSpPr>
        <a:xfrm>
          <a:off x="0" y="0"/>
          <a:ext cx="0" cy="0"/>
          <a:chOff x="0" y="0"/>
          <a:chExt cx="0" cy="0"/>
        </a:xfrm>
      </p:grpSpPr>
      <p:sp>
        <p:nvSpPr>
          <p:cNvPr id="4" name="Tijdelijke aanduiding voor inhoud 3"/>
          <p:cNvSpPr>
            <a:spLocks noGrp="1"/>
          </p:cNvSpPr>
          <p:nvPr>
            <p:ph sz="half" idx="2"/>
          </p:nvPr>
        </p:nvSpPr>
        <p:spPr>
          <a:xfrm>
            <a:off x="839788" y="2836545"/>
            <a:ext cx="5157787" cy="3198495"/>
          </a:xfrm>
        </p:spPr>
        <p:txBody>
          <a:bodyPr/>
          <a:lstStyle>
            <a:lvl1pPr>
              <a:defRPr sz="2000">
                <a:solidFill>
                  <a:schemeClr val="tx1">
                    <a:lumMod val="65000"/>
                    <a:lumOff val="35000"/>
                  </a:schemeClr>
                </a:solidFill>
                <a:latin typeface="Arial" panose="020B0604020202020204" pitchFamily="34" charset="0"/>
                <a:cs typeface="Arial" panose="020B0604020202020204" pitchFamily="34" charset="0"/>
              </a:defRPr>
            </a:lvl1pPr>
            <a:lvl2pPr>
              <a:defRPr sz="2000">
                <a:solidFill>
                  <a:schemeClr val="tx1">
                    <a:lumMod val="65000"/>
                    <a:lumOff val="35000"/>
                  </a:schemeClr>
                </a:solidFill>
                <a:latin typeface="Arial" panose="020B0604020202020204" pitchFamily="34" charset="0"/>
                <a:cs typeface="Arial" panose="020B0604020202020204" pitchFamily="34" charset="0"/>
              </a:defRPr>
            </a:lvl2pPr>
            <a:lvl3pPr>
              <a:defRPr sz="1800">
                <a:solidFill>
                  <a:schemeClr val="tx1">
                    <a:lumMod val="65000"/>
                    <a:lumOff val="35000"/>
                  </a:schemeClr>
                </a:solidFill>
                <a:latin typeface="Arial" panose="020B0604020202020204" pitchFamily="34" charset="0"/>
                <a:cs typeface="Arial" panose="020B0604020202020204" pitchFamily="34" charset="0"/>
              </a:defRPr>
            </a:lvl3pPr>
            <a:lvl4pPr>
              <a:defRPr sz="1600">
                <a:solidFill>
                  <a:schemeClr val="tx1">
                    <a:lumMod val="65000"/>
                    <a:lumOff val="35000"/>
                  </a:schemeClr>
                </a:solidFill>
                <a:latin typeface="Arial" panose="020B0604020202020204" pitchFamily="34" charset="0"/>
                <a:cs typeface="Arial" panose="020B0604020202020204" pitchFamily="34" charset="0"/>
              </a:defRPr>
            </a:lvl4pPr>
            <a:lvl5pPr>
              <a:defRPr sz="1400">
                <a:solidFill>
                  <a:schemeClr val="tx1">
                    <a:lumMod val="65000"/>
                    <a:lumOff val="35000"/>
                  </a:schemeClr>
                </a:solidFill>
                <a:latin typeface="Arial" panose="020B0604020202020204" pitchFamily="34" charset="0"/>
                <a:cs typeface="Arial" panose="020B0604020202020204" pitchFamily="34" charset="0"/>
              </a:defRPr>
            </a:lvl5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5" name="Tijdelijke aanduiding voor tekst 4"/>
          <p:cNvSpPr>
            <a:spLocks noGrp="1"/>
          </p:cNvSpPr>
          <p:nvPr>
            <p:ph type="body" sz="quarter" idx="3"/>
          </p:nvPr>
        </p:nvSpPr>
        <p:spPr>
          <a:xfrm>
            <a:off x="6172200" y="2236109"/>
            <a:ext cx="5183188" cy="389512"/>
          </a:xfrm>
        </p:spPr>
        <p:txBody>
          <a:bodyPr anchor="b"/>
          <a:lstStyle>
            <a:lvl1pPr marL="0" indent="0">
              <a:buNone/>
              <a:defRPr sz="2400" b="1">
                <a:solidFill>
                  <a:srgbClr val="2E9E4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smtClean="0"/>
              <a:t>Tekststijl van het model bewerken</a:t>
            </a:r>
          </a:p>
        </p:txBody>
      </p:sp>
      <p:sp>
        <p:nvSpPr>
          <p:cNvPr id="6" name="Tijdelijke aanduiding voor inhoud 5"/>
          <p:cNvSpPr>
            <a:spLocks noGrp="1"/>
          </p:cNvSpPr>
          <p:nvPr>
            <p:ph sz="quarter" idx="4"/>
          </p:nvPr>
        </p:nvSpPr>
        <p:spPr>
          <a:xfrm>
            <a:off x="6172200" y="2836545"/>
            <a:ext cx="5183188" cy="3198495"/>
          </a:xfrm>
        </p:spPr>
        <p:txBody>
          <a:bodyPr/>
          <a:lstStyle>
            <a:lvl1pPr>
              <a:defRPr sz="2000">
                <a:solidFill>
                  <a:schemeClr val="tx1">
                    <a:lumMod val="65000"/>
                    <a:lumOff val="35000"/>
                  </a:schemeClr>
                </a:solidFill>
                <a:latin typeface="Arial" panose="020B0604020202020204" pitchFamily="34" charset="0"/>
                <a:cs typeface="Arial" panose="020B0604020202020204" pitchFamily="34" charset="0"/>
              </a:defRPr>
            </a:lvl1pPr>
            <a:lvl2pPr>
              <a:defRPr sz="2000">
                <a:solidFill>
                  <a:schemeClr val="tx1">
                    <a:lumMod val="65000"/>
                    <a:lumOff val="35000"/>
                  </a:schemeClr>
                </a:solidFill>
                <a:latin typeface="Arial" panose="020B0604020202020204" pitchFamily="34" charset="0"/>
                <a:cs typeface="Arial" panose="020B0604020202020204" pitchFamily="34" charset="0"/>
              </a:defRPr>
            </a:lvl2pPr>
            <a:lvl3pPr>
              <a:defRPr sz="1800">
                <a:solidFill>
                  <a:schemeClr val="tx1">
                    <a:lumMod val="65000"/>
                    <a:lumOff val="35000"/>
                  </a:schemeClr>
                </a:solidFill>
                <a:latin typeface="Arial" panose="020B0604020202020204" pitchFamily="34" charset="0"/>
                <a:cs typeface="Arial" panose="020B0604020202020204" pitchFamily="34" charset="0"/>
              </a:defRPr>
            </a:lvl3pPr>
            <a:lvl4pPr>
              <a:defRPr sz="1600">
                <a:solidFill>
                  <a:schemeClr val="tx1">
                    <a:lumMod val="65000"/>
                    <a:lumOff val="35000"/>
                  </a:schemeClr>
                </a:solidFill>
                <a:latin typeface="Arial" panose="020B0604020202020204" pitchFamily="34" charset="0"/>
                <a:cs typeface="Arial" panose="020B0604020202020204" pitchFamily="34" charset="0"/>
              </a:defRPr>
            </a:lvl4pPr>
            <a:lvl5pPr>
              <a:defRPr sz="1400">
                <a:solidFill>
                  <a:schemeClr val="tx1">
                    <a:lumMod val="65000"/>
                    <a:lumOff val="35000"/>
                  </a:schemeClr>
                </a:solidFill>
                <a:latin typeface="Arial" panose="020B0604020202020204" pitchFamily="34" charset="0"/>
                <a:cs typeface="Arial" panose="020B0604020202020204" pitchFamily="34" charset="0"/>
              </a:defRPr>
            </a:lvl5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7" name="Tijdelijke aanduiding voor datum 6"/>
          <p:cNvSpPr>
            <a:spLocks noGrp="1"/>
          </p:cNvSpPr>
          <p:nvPr>
            <p:ph type="dt" sz="half" idx="10"/>
          </p:nvPr>
        </p:nvSpPr>
        <p:spPr/>
        <p:txBody>
          <a:bodyPr/>
          <a:lstStyle/>
          <a:p>
            <a:fld id="{9669CD0A-7A53-4AE3-868C-A2B1771F2E60}" type="datetimeFigureOut">
              <a:rPr lang="nl-BE" smtClean="0"/>
              <a:t>28/04/2020</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ED2816A2-A784-45CB-8129-C1481338D718}" type="slidenum">
              <a:rPr lang="nl-BE" smtClean="0"/>
              <a:t>‹nr.›</a:t>
            </a:fld>
            <a:endParaRPr lang="nl-BE"/>
          </a:p>
        </p:txBody>
      </p:sp>
      <p:sp>
        <p:nvSpPr>
          <p:cNvPr id="3" name="Tijdelijke aanduiding voor tekst 2"/>
          <p:cNvSpPr>
            <a:spLocks noGrp="1"/>
          </p:cNvSpPr>
          <p:nvPr>
            <p:ph type="body" idx="1"/>
          </p:nvPr>
        </p:nvSpPr>
        <p:spPr>
          <a:xfrm>
            <a:off x="839788" y="2236109"/>
            <a:ext cx="5157787" cy="389512"/>
          </a:xfrm>
        </p:spPr>
        <p:txBody>
          <a:bodyPr anchor="b"/>
          <a:lstStyle>
            <a:lvl1pPr marL="0" indent="0">
              <a:buNone/>
              <a:defRPr sz="2400" b="1">
                <a:solidFill>
                  <a:srgbClr val="2E9E4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smtClean="0"/>
              <a:t>Tekststijl van het model bewerken</a:t>
            </a:r>
          </a:p>
        </p:txBody>
      </p:sp>
      <p:sp>
        <p:nvSpPr>
          <p:cNvPr id="11"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Tree>
    <p:extLst>
      <p:ext uri="{BB962C8B-B14F-4D97-AF65-F5344CB8AC3E}">
        <p14:creationId xmlns:p14="http://schemas.microsoft.com/office/powerpoint/2010/main" val="148441033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oofdtitel + subtitel + tekst">
    <p:spTree>
      <p:nvGrpSpPr>
        <p:cNvPr id="1" name=""/>
        <p:cNvGrpSpPr/>
        <p:nvPr/>
      </p:nvGrpSpPr>
      <p:grpSpPr>
        <a:xfrm>
          <a:off x="0" y="0"/>
          <a:ext cx="0" cy="0"/>
          <a:chOff x="0" y="0"/>
          <a:chExt cx="0" cy="0"/>
        </a:xfrm>
      </p:grpSpPr>
      <p:sp>
        <p:nvSpPr>
          <p:cNvPr id="7" name="Tijdelijke aanduiding voor datum 6"/>
          <p:cNvSpPr>
            <a:spLocks noGrp="1"/>
          </p:cNvSpPr>
          <p:nvPr>
            <p:ph type="dt" sz="half" idx="10"/>
          </p:nvPr>
        </p:nvSpPr>
        <p:spPr/>
        <p:txBody>
          <a:bodyPr/>
          <a:lstStyle/>
          <a:p>
            <a:fld id="{9669CD0A-7A53-4AE3-868C-A2B1771F2E60}" type="datetimeFigureOut">
              <a:rPr lang="nl-BE" smtClean="0"/>
              <a:t>28/04/2020</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ED2816A2-A784-45CB-8129-C1481338D718}" type="slidenum">
              <a:rPr lang="nl-BE" smtClean="0"/>
              <a:t>‹nr.›</a:t>
            </a:fld>
            <a:endParaRPr lang="nl-BE"/>
          </a:p>
        </p:txBody>
      </p:sp>
      <p:sp>
        <p:nvSpPr>
          <p:cNvPr id="12" name="Tijdelijke aanduiding voor inhoud 3"/>
          <p:cNvSpPr>
            <a:spLocks noGrp="1"/>
          </p:cNvSpPr>
          <p:nvPr>
            <p:ph sz="half" idx="2"/>
          </p:nvPr>
        </p:nvSpPr>
        <p:spPr>
          <a:xfrm>
            <a:off x="839788" y="2836545"/>
            <a:ext cx="10514012" cy="3198495"/>
          </a:xfrm>
        </p:spPr>
        <p:txBody>
          <a:bodyPr/>
          <a:lstStyle>
            <a:lvl1pPr>
              <a:defRPr sz="2000">
                <a:solidFill>
                  <a:schemeClr val="tx1">
                    <a:lumMod val="65000"/>
                    <a:lumOff val="35000"/>
                  </a:schemeClr>
                </a:solidFill>
                <a:latin typeface="Arial" panose="020B0604020202020204" pitchFamily="34" charset="0"/>
                <a:cs typeface="Arial" panose="020B0604020202020204" pitchFamily="34" charset="0"/>
              </a:defRPr>
            </a:lvl1pPr>
            <a:lvl2pPr>
              <a:defRPr sz="2000">
                <a:solidFill>
                  <a:schemeClr val="tx1">
                    <a:lumMod val="65000"/>
                    <a:lumOff val="35000"/>
                  </a:schemeClr>
                </a:solidFill>
                <a:latin typeface="Arial" panose="020B0604020202020204" pitchFamily="34" charset="0"/>
                <a:cs typeface="Arial" panose="020B0604020202020204" pitchFamily="34" charset="0"/>
              </a:defRPr>
            </a:lvl2pPr>
            <a:lvl3pPr>
              <a:defRPr sz="1800">
                <a:solidFill>
                  <a:schemeClr val="tx1">
                    <a:lumMod val="65000"/>
                    <a:lumOff val="35000"/>
                  </a:schemeClr>
                </a:solidFill>
                <a:latin typeface="Arial" panose="020B0604020202020204" pitchFamily="34" charset="0"/>
                <a:cs typeface="Arial" panose="020B0604020202020204" pitchFamily="34" charset="0"/>
              </a:defRPr>
            </a:lvl3pPr>
            <a:lvl4pPr>
              <a:defRPr sz="1600">
                <a:solidFill>
                  <a:schemeClr val="tx1">
                    <a:lumMod val="65000"/>
                    <a:lumOff val="35000"/>
                  </a:schemeClr>
                </a:solidFill>
                <a:latin typeface="Arial" panose="020B0604020202020204" pitchFamily="34" charset="0"/>
                <a:cs typeface="Arial" panose="020B0604020202020204" pitchFamily="34" charset="0"/>
              </a:defRPr>
            </a:lvl4pPr>
            <a:lvl5pPr>
              <a:defRPr sz="1400">
                <a:solidFill>
                  <a:schemeClr val="tx1">
                    <a:lumMod val="65000"/>
                    <a:lumOff val="35000"/>
                  </a:schemeClr>
                </a:solidFill>
                <a:latin typeface="Arial" panose="020B0604020202020204" pitchFamily="34" charset="0"/>
                <a:cs typeface="Arial" panose="020B0604020202020204" pitchFamily="34" charset="0"/>
              </a:defRPr>
            </a:lvl5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15" name="Tijdelijke aanduiding voor tekst 2"/>
          <p:cNvSpPr>
            <a:spLocks noGrp="1"/>
          </p:cNvSpPr>
          <p:nvPr>
            <p:ph type="body" idx="1"/>
          </p:nvPr>
        </p:nvSpPr>
        <p:spPr>
          <a:xfrm>
            <a:off x="839788" y="2236109"/>
            <a:ext cx="10514012" cy="389512"/>
          </a:xfrm>
        </p:spPr>
        <p:txBody>
          <a:bodyPr anchor="b"/>
          <a:lstStyle>
            <a:lvl1pPr marL="0" indent="0">
              <a:buNone/>
              <a:defRPr sz="2400" b="1">
                <a:solidFill>
                  <a:srgbClr val="2E9E4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smtClean="0"/>
              <a:t>Tekststijl van het model bewerken</a:t>
            </a:r>
          </a:p>
        </p:txBody>
      </p:sp>
      <p:sp>
        <p:nvSpPr>
          <p:cNvPr id="16"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Tree>
    <p:extLst>
      <p:ext uri="{BB962C8B-B14F-4D97-AF65-F5344CB8AC3E}">
        <p14:creationId xmlns:p14="http://schemas.microsoft.com/office/powerpoint/2010/main" val="120279483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fld id="{9669CD0A-7A53-4AE3-868C-A2B1771F2E60}" type="datetimeFigureOut">
              <a:rPr lang="nl-BE" smtClean="0"/>
              <a:t>28/04/2020</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ED2816A2-A784-45CB-8129-C1481338D718}" type="slidenum">
              <a:rPr lang="nl-BE" smtClean="0"/>
              <a:t>‹nr.›</a:t>
            </a:fld>
            <a:endParaRPr lang="nl-BE"/>
          </a:p>
        </p:txBody>
      </p:sp>
      <p:sp>
        <p:nvSpPr>
          <p:cNvPr id="7"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Tree>
    <p:extLst>
      <p:ext uri="{BB962C8B-B14F-4D97-AF65-F5344CB8AC3E}">
        <p14:creationId xmlns:p14="http://schemas.microsoft.com/office/powerpoint/2010/main" val="1683460465"/>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1475508"/>
            <a:ext cx="3932237" cy="787631"/>
          </a:xfrm>
        </p:spPr>
        <p:txBody>
          <a:bodyPr anchor="b">
            <a:normAutofit/>
          </a:bodyPr>
          <a:lstStyle>
            <a:lvl1pPr>
              <a:defRPr sz="2400"/>
            </a:lvl1pPr>
          </a:lstStyle>
          <a:p>
            <a:r>
              <a:rPr lang="nl-NL" dirty="0" smtClean="0"/>
              <a:t>Klik om de stijl te bewerken</a:t>
            </a:r>
            <a:endParaRPr lang="nl-BE" dirty="0"/>
          </a:p>
        </p:txBody>
      </p:sp>
      <p:sp>
        <p:nvSpPr>
          <p:cNvPr id="3" name="Tijdelijke aanduiding voor inhoud 2"/>
          <p:cNvSpPr>
            <a:spLocks noGrp="1"/>
          </p:cNvSpPr>
          <p:nvPr>
            <p:ph idx="1"/>
          </p:nvPr>
        </p:nvSpPr>
        <p:spPr>
          <a:xfrm>
            <a:off x="5181600" y="1475508"/>
            <a:ext cx="6172200" cy="4419832"/>
          </a:xfrm>
        </p:spPr>
        <p:txBody>
          <a:bodyPr/>
          <a:lstStyle>
            <a:lvl1pPr>
              <a:defRPr sz="20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4" name="Tijdelijke aanduiding voor tekst 3"/>
          <p:cNvSpPr>
            <a:spLocks noGrp="1"/>
          </p:cNvSpPr>
          <p:nvPr>
            <p:ph type="body" sz="half" idx="2"/>
          </p:nvPr>
        </p:nvSpPr>
        <p:spPr>
          <a:xfrm>
            <a:off x="838200" y="2434590"/>
            <a:ext cx="3932237" cy="34607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dirty="0" smtClean="0"/>
              <a:t>Tekststijl van het model bewerken</a:t>
            </a:r>
          </a:p>
        </p:txBody>
      </p:sp>
      <p:sp>
        <p:nvSpPr>
          <p:cNvPr id="5" name="Tijdelijke aanduiding voor datum 4"/>
          <p:cNvSpPr>
            <a:spLocks noGrp="1"/>
          </p:cNvSpPr>
          <p:nvPr>
            <p:ph type="dt" sz="half" idx="10"/>
          </p:nvPr>
        </p:nvSpPr>
        <p:spPr/>
        <p:txBody>
          <a:bodyPr/>
          <a:lstStyle/>
          <a:p>
            <a:fld id="{9669CD0A-7A53-4AE3-868C-A2B1771F2E60}" type="datetimeFigureOut">
              <a:rPr lang="nl-BE" smtClean="0"/>
              <a:t>28/04/2020</a:t>
            </a:fld>
            <a:endParaRPr lang="nl-BE" dirty="0"/>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ED2816A2-A784-45CB-8129-C1481338D718}" type="slidenum">
              <a:rPr lang="nl-BE" smtClean="0"/>
              <a:t>‹nr.›</a:t>
            </a:fld>
            <a:endParaRPr lang="nl-BE"/>
          </a:p>
        </p:txBody>
      </p:sp>
    </p:spTree>
    <p:extLst>
      <p:ext uri="{BB962C8B-B14F-4D97-AF65-F5344CB8AC3E}">
        <p14:creationId xmlns:p14="http://schemas.microsoft.com/office/powerpoint/2010/main" val="385741870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beelding met bijschrift">
    <p:spTree>
      <p:nvGrpSpPr>
        <p:cNvPr id="1" name=""/>
        <p:cNvGrpSpPr/>
        <p:nvPr/>
      </p:nvGrpSpPr>
      <p:grpSpPr>
        <a:xfrm>
          <a:off x="0" y="0"/>
          <a:ext cx="0" cy="0"/>
          <a:chOff x="0" y="0"/>
          <a:chExt cx="0" cy="0"/>
        </a:xfrm>
      </p:grpSpPr>
      <p:sp>
        <p:nvSpPr>
          <p:cNvPr id="3" name="Tijdelijke aanduiding voor afbeelding 2"/>
          <p:cNvSpPr>
            <a:spLocks noGrp="1"/>
          </p:cNvSpPr>
          <p:nvPr>
            <p:ph type="pic" idx="1"/>
          </p:nvPr>
        </p:nvSpPr>
        <p:spPr>
          <a:xfrm>
            <a:off x="5183188" y="1475508"/>
            <a:ext cx="6172200" cy="43855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dirty="0"/>
          </a:p>
        </p:txBody>
      </p:sp>
      <p:sp>
        <p:nvSpPr>
          <p:cNvPr id="5" name="Tijdelijke aanduiding voor datum 4"/>
          <p:cNvSpPr>
            <a:spLocks noGrp="1"/>
          </p:cNvSpPr>
          <p:nvPr>
            <p:ph type="dt" sz="half" idx="10"/>
          </p:nvPr>
        </p:nvSpPr>
        <p:spPr/>
        <p:txBody>
          <a:bodyPr/>
          <a:lstStyle/>
          <a:p>
            <a:fld id="{9669CD0A-7A53-4AE3-868C-A2B1771F2E60}" type="datetimeFigureOut">
              <a:rPr lang="nl-BE" smtClean="0"/>
              <a:t>28/04/2020</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ED2816A2-A784-45CB-8129-C1481338D718}" type="slidenum">
              <a:rPr lang="nl-BE" smtClean="0"/>
              <a:t>‹nr.›</a:t>
            </a:fld>
            <a:endParaRPr lang="nl-BE"/>
          </a:p>
        </p:txBody>
      </p:sp>
      <p:sp>
        <p:nvSpPr>
          <p:cNvPr id="8" name="Titel 1"/>
          <p:cNvSpPr>
            <a:spLocks noGrp="1"/>
          </p:cNvSpPr>
          <p:nvPr>
            <p:ph type="title"/>
          </p:nvPr>
        </p:nvSpPr>
        <p:spPr>
          <a:xfrm>
            <a:off x="839788" y="1475508"/>
            <a:ext cx="3932237" cy="787631"/>
          </a:xfrm>
        </p:spPr>
        <p:txBody>
          <a:bodyPr anchor="b">
            <a:normAutofit/>
          </a:bodyPr>
          <a:lstStyle>
            <a:lvl1pPr>
              <a:defRPr sz="2400"/>
            </a:lvl1pPr>
          </a:lstStyle>
          <a:p>
            <a:r>
              <a:rPr lang="nl-NL" dirty="0" smtClean="0"/>
              <a:t>Klik om de stijl te bewerken</a:t>
            </a:r>
            <a:endParaRPr lang="nl-BE" dirty="0"/>
          </a:p>
        </p:txBody>
      </p:sp>
      <p:sp>
        <p:nvSpPr>
          <p:cNvPr id="9" name="Tijdelijke aanduiding voor tekst 3"/>
          <p:cNvSpPr>
            <a:spLocks noGrp="1"/>
          </p:cNvSpPr>
          <p:nvPr>
            <p:ph type="body" sz="half" idx="2"/>
          </p:nvPr>
        </p:nvSpPr>
        <p:spPr>
          <a:xfrm>
            <a:off x="838200" y="2434590"/>
            <a:ext cx="3932237" cy="34607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dirty="0" smtClean="0"/>
              <a:t>Tekststijl van het model bewerken</a:t>
            </a:r>
          </a:p>
        </p:txBody>
      </p:sp>
    </p:spTree>
    <p:extLst>
      <p:ext uri="{BB962C8B-B14F-4D97-AF65-F5344CB8AC3E}">
        <p14:creationId xmlns:p14="http://schemas.microsoft.com/office/powerpoint/2010/main" val="28611099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en verticale tekst">
    <p:spTree>
      <p:nvGrpSpPr>
        <p:cNvPr id="1" name=""/>
        <p:cNvGrpSpPr/>
        <p:nvPr/>
      </p:nvGrpSpPr>
      <p:grpSpPr>
        <a:xfrm>
          <a:off x="0" y="0"/>
          <a:ext cx="0" cy="0"/>
          <a:chOff x="0" y="0"/>
          <a:chExt cx="0" cy="0"/>
        </a:xfrm>
      </p:grpSpPr>
      <p:sp>
        <p:nvSpPr>
          <p:cNvPr id="3" name="Tijdelijke aanduiding voor verticale tekst 2"/>
          <p:cNvSpPr>
            <a:spLocks noGrp="1"/>
          </p:cNvSpPr>
          <p:nvPr>
            <p:ph type="body" orient="vert" idx="1"/>
          </p:nvPr>
        </p:nvSpPr>
        <p:spPr>
          <a:xfrm>
            <a:off x="838200" y="2362835"/>
            <a:ext cx="10515600" cy="3500755"/>
          </a:xfrm>
        </p:spPr>
        <p:txBody>
          <a:bodyPr vert="eaVert"/>
          <a:lstStyle>
            <a:lvl2pPr>
              <a:defRPr sz="2000"/>
            </a:lvl2pPr>
            <a:lvl3pPr>
              <a:defRPr sz="1800"/>
            </a:lvl3pPr>
            <a:lvl4pPr>
              <a:defRPr sz="1600"/>
            </a:lvl4pPr>
            <a:lvl5pPr>
              <a:defRPr sz="1400"/>
            </a:lvl5pPr>
          </a:lstStyle>
          <a:p>
            <a:pPr lvl="0"/>
            <a:r>
              <a:rPr lang="nl-NL" dirty="0" smtClean="0"/>
              <a:t>Tekststijl van het model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BE" dirty="0"/>
          </a:p>
        </p:txBody>
      </p:sp>
      <p:sp>
        <p:nvSpPr>
          <p:cNvPr id="4" name="Tijdelijke aanduiding voor datum 3"/>
          <p:cNvSpPr>
            <a:spLocks noGrp="1"/>
          </p:cNvSpPr>
          <p:nvPr>
            <p:ph type="dt" sz="half" idx="10"/>
          </p:nvPr>
        </p:nvSpPr>
        <p:spPr/>
        <p:txBody>
          <a:body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ED2816A2-A784-45CB-8129-C1481338D718}" type="slidenum">
              <a:rPr lang="nl-BE" smtClean="0"/>
              <a:t>‹nr.›</a:t>
            </a:fld>
            <a:endParaRPr lang="nl-BE"/>
          </a:p>
        </p:txBody>
      </p:sp>
      <p:sp>
        <p:nvSpPr>
          <p:cNvPr id="8"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Tree>
    <p:extLst>
      <p:ext uri="{BB962C8B-B14F-4D97-AF65-F5344CB8AC3E}">
        <p14:creationId xmlns:p14="http://schemas.microsoft.com/office/powerpoint/2010/main" val="270420259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10093729" y="1417320"/>
            <a:ext cx="1478280" cy="4453544"/>
          </a:xfrm>
        </p:spPr>
        <p:txBody>
          <a:bodyPr vert="eaVert"/>
          <a:lstStyle/>
          <a:p>
            <a:r>
              <a:rPr lang="nl-NL" dirty="0" smtClean="0"/>
              <a:t>Klik om de stijl te bewerken</a:t>
            </a:r>
            <a:endParaRPr lang="nl-BE" dirty="0"/>
          </a:p>
        </p:txBody>
      </p:sp>
      <p:sp>
        <p:nvSpPr>
          <p:cNvPr id="3" name="Tijdelijke aanduiding voor verticale tekst 2"/>
          <p:cNvSpPr>
            <a:spLocks noGrp="1"/>
          </p:cNvSpPr>
          <p:nvPr>
            <p:ph type="body" orient="vert" idx="1"/>
          </p:nvPr>
        </p:nvSpPr>
        <p:spPr>
          <a:xfrm>
            <a:off x="838200" y="1417320"/>
            <a:ext cx="8835736" cy="4453544"/>
          </a:xfrm>
        </p:spPr>
        <p:txBody>
          <a:bodyPr vert="eaVert"/>
          <a:lstStyle>
            <a:lvl5pPr>
              <a:defRPr sz="1600"/>
            </a:lvl5pPr>
          </a:lstStyle>
          <a:p>
            <a:pPr lvl="0"/>
            <a:r>
              <a:rPr lang="nl-NL" dirty="0" smtClean="0"/>
              <a:t>Tekststijl van het model bewerken</a:t>
            </a:r>
          </a:p>
        </p:txBody>
      </p:sp>
      <p:sp>
        <p:nvSpPr>
          <p:cNvPr id="4" name="Tijdelijke aanduiding voor datum 3"/>
          <p:cNvSpPr>
            <a:spLocks noGrp="1"/>
          </p:cNvSpPr>
          <p:nvPr>
            <p:ph type="dt" sz="half" idx="10"/>
          </p:nvPr>
        </p:nvSpPr>
        <p:spPr/>
        <p:txBody>
          <a:body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ED2816A2-A784-45CB-8129-C1481338D718}" type="slidenum">
              <a:rPr lang="nl-BE" smtClean="0"/>
              <a:t>‹nr.›</a:t>
            </a:fld>
            <a:endParaRPr lang="nl-BE"/>
          </a:p>
        </p:txBody>
      </p:sp>
    </p:spTree>
    <p:extLst>
      <p:ext uri="{BB962C8B-B14F-4D97-AF65-F5344CB8AC3E}">
        <p14:creationId xmlns:p14="http://schemas.microsoft.com/office/powerpoint/2010/main" val="406288458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55000">
              <a:schemeClr val="accent3">
                <a:lumMod val="0"/>
                <a:lumOff val="100000"/>
              </a:schemeClr>
            </a:gs>
            <a:gs pos="100000">
              <a:srgbClr val="C8C8C8"/>
            </a:gs>
          </a:gsLst>
          <a:lin ang="5400000" scaled="0"/>
          <a:tileRect/>
        </a:gra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838200" y="1348131"/>
            <a:ext cx="10515600" cy="678723"/>
          </a:xfrm>
          <a:prstGeom prst="rect">
            <a:avLst/>
          </a:prstGeom>
        </p:spPr>
        <p:txBody>
          <a:bodyPr vert="horz" lIns="91440" tIns="45720" rIns="91440" bIns="45720" rtlCol="0" anchor="ctr">
            <a:normAutofit/>
          </a:bodyPr>
          <a:lstStyle/>
          <a:p>
            <a:r>
              <a:rPr lang="nl-NL" dirty="0" smtClean="0"/>
              <a:t>Klik om de stijl te bewerken</a:t>
            </a:r>
            <a:endParaRPr lang="nl-BE" dirty="0"/>
          </a:p>
        </p:txBody>
      </p:sp>
      <p:sp>
        <p:nvSpPr>
          <p:cNvPr id="3" name="Tijdelijke aanduiding voor tekst 2"/>
          <p:cNvSpPr>
            <a:spLocks noGrp="1"/>
          </p:cNvSpPr>
          <p:nvPr>
            <p:ph type="body" idx="1"/>
          </p:nvPr>
        </p:nvSpPr>
        <p:spPr>
          <a:xfrm>
            <a:off x="838200" y="2240495"/>
            <a:ext cx="10515600" cy="3578414"/>
          </a:xfrm>
          <a:prstGeom prst="rect">
            <a:avLst/>
          </a:prstGeom>
        </p:spPr>
        <p:txBody>
          <a:bodyPr vert="horz" lIns="91440" tIns="45720" rIns="91440" bIns="45720" rtlCol="0">
            <a:normAutofit/>
          </a:bodyPr>
          <a:lstStyle/>
          <a:p>
            <a:pPr lvl="0"/>
            <a:r>
              <a:rPr lang="nl-NL" dirty="0" smtClean="0"/>
              <a:t>Tekststijl van het model bewerken</a:t>
            </a:r>
          </a:p>
        </p:txBody>
      </p:sp>
      <p:sp>
        <p:nvSpPr>
          <p:cNvPr id="4" name="Tijdelijke aanduiding voo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69CD0A-7A53-4AE3-868C-A2B1771F2E60}" type="datetimeFigureOut">
              <a:rPr lang="nl-BE" smtClean="0"/>
              <a:t>28/04/2020</a:t>
            </a:fld>
            <a:endParaRPr lang="nl-BE"/>
          </a:p>
        </p:txBody>
      </p:sp>
      <p:sp>
        <p:nvSpPr>
          <p:cNvPr id="5" name="Tijdelijke aanduiding voor voet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816A2-A784-45CB-8129-C1481338D718}" type="slidenum">
              <a:rPr lang="nl-BE" smtClean="0"/>
              <a:t>‹nr.›</a:t>
            </a:fld>
            <a:endParaRPr lang="nl-BE"/>
          </a:p>
        </p:txBody>
      </p:sp>
      <p:pic>
        <p:nvPicPr>
          <p:cNvPr id="9" name="Afbeelding 8"/>
          <p:cNvPicPr>
            <a:picLocks noChangeAspect="1"/>
          </p:cNvPicPr>
          <p:nvPr userDrawn="1"/>
        </p:nvPicPr>
        <p:blipFill>
          <a:blip r:embed="rId15"/>
          <a:stretch>
            <a:fillRect/>
          </a:stretch>
        </p:blipFill>
        <p:spPr>
          <a:xfrm>
            <a:off x="524161" y="228600"/>
            <a:ext cx="2182557" cy="926672"/>
          </a:xfrm>
          <a:prstGeom prst="rect">
            <a:avLst/>
          </a:prstGeom>
        </p:spPr>
      </p:pic>
      <p:sp>
        <p:nvSpPr>
          <p:cNvPr id="10" name="Rechthoek met één afgeronde hoek 9">
            <a:extLst>
              <a:ext uri="{FF2B5EF4-FFF2-40B4-BE49-F238E27FC236}">
                <a16:creationId xmlns:a16="http://schemas.microsoft.com/office/drawing/2014/main" id="{4C63E09D-23C0-3C45-810B-7AAF7FB2CC67}"/>
              </a:ext>
            </a:extLst>
          </p:cNvPr>
          <p:cNvSpPr/>
          <p:nvPr userDrawn="1"/>
        </p:nvSpPr>
        <p:spPr>
          <a:xfrm flipH="1" flipV="1">
            <a:off x="7441517" y="0"/>
            <a:ext cx="4751540" cy="648000"/>
          </a:xfrm>
          <a:prstGeom prst="round1Rect">
            <a:avLst>
              <a:gd name="adj" fmla="val 39116"/>
            </a:avLst>
          </a:prstGeom>
          <a:solidFill>
            <a:srgbClr val="2E9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2E9E46"/>
              </a:solidFill>
            </a:endParaRPr>
          </a:p>
        </p:txBody>
      </p:sp>
      <p:sp>
        <p:nvSpPr>
          <p:cNvPr id="11" name="Rechthoek 10">
            <a:extLst>
              <a:ext uri="{FF2B5EF4-FFF2-40B4-BE49-F238E27FC236}">
                <a16:creationId xmlns:a16="http://schemas.microsoft.com/office/drawing/2014/main" id="{175A4ACA-DC90-A14F-B9DA-FFE51ED2098F}"/>
              </a:ext>
            </a:extLst>
          </p:cNvPr>
          <p:cNvSpPr/>
          <p:nvPr userDrawn="1"/>
        </p:nvSpPr>
        <p:spPr>
          <a:xfrm>
            <a:off x="1057" y="6138000"/>
            <a:ext cx="12192000" cy="720000"/>
          </a:xfrm>
          <a:prstGeom prst="rect">
            <a:avLst/>
          </a:prstGeom>
          <a:solidFill>
            <a:srgbClr val="2E9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2" name="Afbeelding 11">
            <a:extLst>
              <a:ext uri="{FF2B5EF4-FFF2-40B4-BE49-F238E27FC236}">
                <a16:creationId xmlns:a16="http://schemas.microsoft.com/office/drawing/2014/main" id="{C4BD314C-6E6B-A540-BAB9-F72CD9DA948E}"/>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524161" y="6238525"/>
            <a:ext cx="1506449" cy="452467"/>
          </a:xfrm>
          <a:prstGeom prst="rect">
            <a:avLst/>
          </a:prstGeom>
        </p:spPr>
      </p:pic>
      <p:sp>
        <p:nvSpPr>
          <p:cNvPr id="13" name="Tekstvak 12">
            <a:extLst>
              <a:ext uri="{FF2B5EF4-FFF2-40B4-BE49-F238E27FC236}">
                <a16:creationId xmlns:a16="http://schemas.microsoft.com/office/drawing/2014/main" id="{B1882AFA-5285-D048-88B0-E98FD59F878A}"/>
              </a:ext>
            </a:extLst>
          </p:cNvPr>
          <p:cNvSpPr txBox="1"/>
          <p:nvPr userDrawn="1"/>
        </p:nvSpPr>
        <p:spPr>
          <a:xfrm>
            <a:off x="9143551" y="6104758"/>
            <a:ext cx="3162748" cy="720000"/>
          </a:xfrm>
          <a:prstGeom prst="rect">
            <a:avLst/>
          </a:prstGeom>
          <a:noFill/>
        </p:spPr>
        <p:txBody>
          <a:bodyPr wrap="square" rtlCol="0" anchor="ctr">
            <a:noAutofit/>
          </a:bodyPr>
          <a:lstStyle/>
          <a:p>
            <a:pPr marL="0" indent="0" algn="ctr">
              <a:tabLst/>
            </a:pPr>
            <a:r>
              <a:rPr lang="nl-BE" sz="1800" kern="1700" spc="100" baseline="0" dirty="0">
                <a:solidFill>
                  <a:schemeClr val="bg1"/>
                </a:solidFill>
                <a:latin typeface="Arial" panose="020B0604020202020204" pitchFamily="34" charset="0"/>
                <a:cs typeface="Arial" panose="020B0604020202020204" pitchFamily="34" charset="0"/>
              </a:rPr>
              <a:t>www.cvofocus.be</a:t>
            </a:r>
          </a:p>
        </p:txBody>
      </p:sp>
    </p:spTree>
    <p:extLst>
      <p:ext uri="{BB962C8B-B14F-4D97-AF65-F5344CB8AC3E}">
        <p14:creationId xmlns:p14="http://schemas.microsoft.com/office/powerpoint/2010/main" val="327511031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1" r:id="rId3"/>
    <p:sldLayoutId id="2147483660" r:id="rId4"/>
    <p:sldLayoutId id="2147483650" r:id="rId5"/>
    <p:sldLayoutId id="2147483652" r:id="rId6"/>
    <p:sldLayoutId id="2147483653" r:id="rId7"/>
    <p:sldLayoutId id="2147483662" r:id="rId8"/>
    <p:sldLayoutId id="2147483654" r:id="rId9"/>
    <p:sldLayoutId id="2147483656" r:id="rId10"/>
    <p:sldLayoutId id="2147483657" r:id="rId11"/>
    <p:sldLayoutId id="2147483658" r:id="rId12"/>
    <p:sldLayoutId id="2147483659" r:id="rId13"/>
  </p:sldLayoutIdLst>
  <p:timing>
    <p:tnLst>
      <p:par>
        <p:cTn id="1" dur="indefinite" restart="never" nodeType="tmRoot"/>
      </p:par>
    </p:tnLst>
  </p:timing>
  <p:txStyles>
    <p:titleStyle>
      <a:lvl1pPr algn="l" defTabSz="914400" rtl="0" eaLnBrk="1" latinLnBrk="0" hangingPunct="1">
        <a:lnSpc>
          <a:spcPct val="90000"/>
        </a:lnSpc>
        <a:spcBef>
          <a:spcPct val="0"/>
        </a:spcBef>
        <a:buNone/>
        <a:defRPr sz="3200" b="1" kern="1200">
          <a:solidFill>
            <a:srgbClr val="203157"/>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PC werkt traag</a:t>
            </a:r>
          </a:p>
        </p:txBody>
      </p:sp>
      <p:sp>
        <p:nvSpPr>
          <p:cNvPr id="3" name="Subtitle 2"/>
          <p:cNvSpPr>
            <a:spLocks noGrp="1"/>
          </p:cNvSpPr>
          <p:nvPr>
            <p:ph type="subTitle" idx="1"/>
          </p:nvPr>
        </p:nvSpPr>
        <p:spPr/>
        <p:txBody>
          <a:bodyPr/>
          <a:lstStyle/>
          <a:p>
            <a:r>
              <a:t>Prestatie-analyse en verbeteren · Hard- en software problemen oplossen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wrap="square"/>
          <a:lstStyle/>
          <a:p>
            <a:pPr>
              <a:spcAft>
                <a:spcPts val="400"/>
              </a:spcAft>
            </a:pPr>
            <a:r>
              <a:rPr sz="1600">
                <a:latin typeface="Arial"/>
              </a:rPr>
              <a:t>1. de oorzaken van een trage pc noemen: software, hardware of beide;</a:t>
            </a:r>
          </a:p>
          <a:p>
            <a:pPr>
              <a:spcAft>
                <a:spcPts val="400"/>
              </a:spcAft>
            </a:pPr>
            <a:r>
              <a:rPr sz="1600">
                <a:latin typeface="Arial"/>
              </a:rPr>
              <a:t>2. met Taakbeheer en andere tools de prestaties analyseren;</a:t>
            </a:r>
          </a:p>
          <a:p>
            <a:pPr>
              <a:spcAft>
                <a:spcPts val="400"/>
              </a:spcAft>
            </a:pPr>
            <a:r>
              <a:rPr sz="1600">
                <a:latin typeface="Arial"/>
              </a:rPr>
              <a:t>3. opstartprogramma's, achtergrond-apps en extensies beperken;</a:t>
            </a:r>
          </a:p>
          <a:p>
            <a:pPr>
              <a:spcAft>
                <a:spcPts val="400"/>
              </a:spcAft>
            </a:pPr>
            <a:r>
              <a:rPr sz="1600">
                <a:latin typeface="Arial"/>
              </a:rPr>
              <a:t>4. systeemvereisten vergelijken met je eigen pc;</a:t>
            </a:r>
          </a:p>
          <a:p>
            <a:pPr>
              <a:spcAft>
                <a:spcPts val="400"/>
              </a:spcAft>
            </a:pPr>
            <a:r>
              <a:rPr sz="1600">
                <a:latin typeface="Arial"/>
              </a:rPr>
              <a:t>5. updates, antivirus en synchronisatie juist instellen;</a:t>
            </a:r>
          </a:p>
          <a:p>
            <a:pPr>
              <a:spcAft>
                <a:spcPts val="400"/>
              </a:spcAft>
            </a:pPr>
            <a:r>
              <a:rPr sz="1600">
                <a:latin typeface="Arial"/>
              </a:rPr>
              <a:t>6. de snelheid en gezondheid van de schijf beoordelen.</a:t>
            </a:r>
          </a:p>
        </p:txBody>
      </p:sp>
      <p:sp>
        <p:nvSpPr>
          <p:cNvPr id="3" name="Content Placeholder 2"/>
          <p:cNvSpPr>
            <a:spLocks noGrp="1"/>
          </p:cNvSpPr>
          <p:nvPr>
            <p:ph idx="2" sz="half"/>
          </p:nvPr>
        </p:nvSpPr>
        <p:spPr/>
        <p:txBody>
          <a:bodyPr wrap="square"/>
          <a:lstStyle/>
          <a:p>
            <a:r>
              <a:rPr sz="1800" b="1">
                <a:solidFill>
                  <a:srgbClr val="2E9E46"/>
                </a:solidFill>
                <a:latin typeface="Arial"/>
              </a:rPr>
              <a:t>Zo werken we</a:t>
            </a:r>
          </a:p>
          <a:p>
            <a:r>
              <a:rPr sz="1800">
                <a:latin typeface="Arial"/>
              </a:rPr>
              <a:t>1. Uitleg H1–H4 met demo's</a:t>
            </a:r>
          </a:p>
          <a:p>
            <a:r>
              <a:rPr sz="1800">
                <a:latin typeface="Arial"/>
              </a:rPr>
              <a:t>2. Werkblad deel 1</a:t>
            </a:r>
          </a:p>
          <a:p>
            <a:r>
              <a:rPr sz="1800">
                <a:latin typeface="Arial"/>
              </a:rPr>
              <a:t>3. Uitleg H5–H9</a:t>
            </a:r>
          </a:p>
          <a:p>
            <a:r>
              <a:rPr sz="1800">
                <a:latin typeface="Arial"/>
              </a:rPr>
              <a:t>4. Werkblad deel 2</a:t>
            </a:r>
          </a:p>
          <a:p>
            <a:r>
              <a:rPr sz="1800">
                <a:latin typeface="Arial"/>
              </a:rPr>
              <a:t>5. Oefenen en eindtoets in de app</a:t>
            </a:r>
          </a:p>
        </p:txBody>
      </p:sp>
      <p:sp>
        <p:nvSpPr>
          <p:cNvPr id="4" name="Title 3"/>
          <p:cNvSpPr>
            <a:spLocks noGrp="1"/>
          </p:cNvSpPr>
          <p:nvPr>
            <p:ph type="title"/>
          </p:nvPr>
        </p:nvSpPr>
        <p:spPr/>
        <p:txBody>
          <a:bodyPr/>
          <a:lstStyle/>
          <a:p>
            <a:r>
              <a:t>Na deze les kan je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Negen oorzaken van een trage pc</a:t>
            </a:r>
          </a:p>
        </p:txBody>
      </p:sp>
      <p:graphicFrame>
        <p:nvGraphicFramePr>
          <p:cNvPr id="3" name="Table 2"/>
          <p:cNvGraphicFramePr>
            <a:graphicFrameLocks noGrp="1"/>
          </p:cNvGraphicFramePr>
          <p:nvPr/>
        </p:nvGraphicFramePr>
        <p:xfrm>
          <a:off x="841248" y="2103120"/>
          <a:ext cx="10515600" cy="3291840"/>
        </p:xfrm>
        <a:graphic>
          <a:graphicData uri="http://schemas.openxmlformats.org/drawingml/2006/table">
            <a:tbl>
              <a:tblPr firstRow="1" bandRow="1">
                <a:tableStyleId>{5C22544A-7EE6-4342-B048-85BDC9FD1C3A}</a:tableStyleId>
              </a:tblPr>
              <a:tblGrid>
                <a:gridCol w="4381500"/>
                <a:gridCol w="2628900"/>
                <a:gridCol w="3505200"/>
              </a:tblGrid>
              <a:tr h="329184">
                <a:tc>
                  <a:txBody>
                    <a:bodyPr wrap="square"/>
                    <a:lstStyle/>
                    <a:p>
                      <a:r>
                        <a:rPr sz="1400">
                          <a:latin typeface="Arial"/>
                        </a:rPr>
                        <a:t>Oorzaak</a:t>
                      </a:r>
                    </a:p>
                  </a:txBody>
                  <a:tcPr marT="36576" marB="36576"/>
                </a:tc>
                <a:tc>
                  <a:txBody>
                    <a:bodyPr wrap="square"/>
                    <a:lstStyle/>
                    <a:p>
                      <a:r>
                        <a:rPr sz="1400">
                          <a:latin typeface="Arial"/>
                        </a:rPr>
                        <a:t>Soort probleem</a:t>
                      </a:r>
                    </a:p>
                  </a:txBody>
                  <a:tcPr marT="36576" marB="36576"/>
                </a:tc>
                <a:tc>
                  <a:txBody>
                    <a:bodyPr wrap="square"/>
                    <a:lstStyle/>
                    <a:p>
                      <a:r>
                        <a:rPr sz="1400">
                          <a:latin typeface="Arial"/>
                        </a:rPr>
                        <a:t>Typisch symptoom</a:t>
                      </a:r>
                    </a:p>
                  </a:txBody>
                  <a:tcPr marT="36576" marB="36576"/>
                </a:tc>
              </a:tr>
              <a:tr h="329184">
                <a:tc>
                  <a:txBody>
                    <a:bodyPr wrap="square"/>
                    <a:lstStyle/>
                    <a:p>
                      <a:r>
                        <a:rPr sz="1400">
                          <a:latin typeface="Arial"/>
                        </a:rPr>
                        <a:t>Té veel programma's starten mee op</a:t>
                      </a:r>
                    </a:p>
                  </a:txBody>
                  <a:tcPr marT="36576" marB="36576"/>
                </a:tc>
                <a:tc>
                  <a:txBody>
                    <a:bodyPr wrap="square"/>
                    <a:lstStyle/>
                    <a:p>
                      <a:r>
                        <a:rPr sz="1400">
                          <a:latin typeface="Arial"/>
                        </a:rPr>
                        <a:t>software</a:t>
                      </a:r>
                    </a:p>
                  </a:txBody>
                  <a:tcPr marT="36576" marB="36576"/>
                </a:tc>
                <a:tc>
                  <a:txBody>
                    <a:bodyPr wrap="square"/>
                    <a:lstStyle/>
                    <a:p>
                      <a:r>
                        <a:rPr sz="1400">
                          <a:latin typeface="Arial"/>
                        </a:rPr>
                        <a:t>traag na het aanmelden</a:t>
                      </a:r>
                    </a:p>
                  </a:txBody>
                  <a:tcPr marT="36576" marB="36576"/>
                </a:tc>
              </a:tr>
              <a:tr h="329184">
                <a:tc>
                  <a:txBody>
                    <a:bodyPr wrap="square"/>
                    <a:lstStyle/>
                    <a:p>
                      <a:r>
                        <a:rPr sz="1400">
                          <a:latin typeface="Arial"/>
                        </a:rPr>
                        <a:t>Té zware programma's</a:t>
                      </a:r>
                    </a:p>
                  </a:txBody>
                  <a:tcPr marT="36576" marB="36576"/>
                </a:tc>
                <a:tc>
                  <a:txBody>
                    <a:bodyPr wrap="square"/>
                    <a:lstStyle/>
                    <a:p>
                      <a:r>
                        <a:rPr sz="1400">
                          <a:latin typeface="Arial"/>
                        </a:rPr>
                        <a:t>software + hardware</a:t>
                      </a:r>
                    </a:p>
                  </a:txBody>
                  <a:tcPr marT="36576" marB="36576"/>
                </a:tc>
                <a:tc>
                  <a:txBody>
                    <a:bodyPr wrap="square"/>
                    <a:lstStyle/>
                    <a:p>
                      <a:r>
                        <a:rPr sz="1400">
                          <a:latin typeface="Arial"/>
                        </a:rPr>
                        <a:t>één programma hapert</a:t>
                      </a:r>
                    </a:p>
                  </a:txBody>
                  <a:tcPr marT="36576" marB="36576"/>
                </a:tc>
              </a:tr>
              <a:tr h="329184">
                <a:tc>
                  <a:txBody>
                    <a:bodyPr wrap="square"/>
                    <a:lstStyle/>
                    <a:p>
                      <a:r>
                        <a:rPr sz="1400">
                          <a:latin typeface="Arial"/>
                        </a:rPr>
                        <a:t>Te veel programma's tegelijk</a:t>
                      </a:r>
                    </a:p>
                  </a:txBody>
                  <a:tcPr marT="36576" marB="36576"/>
                </a:tc>
                <a:tc>
                  <a:txBody>
                    <a:bodyPr wrap="square"/>
                    <a:lstStyle/>
                    <a:p>
                      <a:r>
                        <a:rPr sz="1400">
                          <a:latin typeface="Arial"/>
                        </a:rPr>
                        <a:t>software + hardware</a:t>
                      </a:r>
                    </a:p>
                  </a:txBody>
                  <a:tcPr marT="36576" marB="36576"/>
                </a:tc>
                <a:tc>
                  <a:txBody>
                    <a:bodyPr wrap="square"/>
                    <a:lstStyle/>
                    <a:p>
                      <a:r>
                        <a:rPr sz="1400">
                          <a:latin typeface="Arial"/>
                        </a:rPr>
                        <a:t>traag als veel open staat</a:t>
                      </a:r>
                    </a:p>
                  </a:txBody>
                  <a:tcPr marT="36576" marB="36576"/>
                </a:tc>
              </a:tr>
              <a:tr h="329184">
                <a:tc>
                  <a:txBody>
                    <a:bodyPr wrap="square"/>
                    <a:lstStyle/>
                    <a:p>
                      <a:r>
                        <a:rPr sz="1400">
                          <a:latin typeface="Arial"/>
                        </a:rPr>
                        <a:t>Verouderde pc (CPU, RAM, GPU, OS)</a:t>
                      </a:r>
                    </a:p>
                  </a:txBody>
                  <a:tcPr marT="36576" marB="36576"/>
                </a:tc>
                <a:tc>
                  <a:txBody>
                    <a:bodyPr wrap="square"/>
                    <a:lstStyle/>
                    <a:p>
                      <a:r>
                        <a:rPr sz="1400">
                          <a:latin typeface="Arial"/>
                        </a:rPr>
                        <a:t>software + hardware</a:t>
                      </a:r>
                    </a:p>
                  </a:txBody>
                  <a:tcPr marT="36576" marB="36576"/>
                </a:tc>
                <a:tc>
                  <a:txBody>
                    <a:bodyPr wrap="square"/>
                    <a:lstStyle/>
                    <a:p>
                      <a:r>
                        <a:rPr sz="1400">
                          <a:latin typeface="Arial"/>
                        </a:rPr>
                        <a:t>altijd traag</a:t>
                      </a:r>
                    </a:p>
                  </a:txBody>
                  <a:tcPr marT="36576" marB="36576"/>
                </a:tc>
              </a:tr>
              <a:tr h="329184">
                <a:tc>
                  <a:txBody>
                    <a:bodyPr wrap="square"/>
                    <a:lstStyle/>
                    <a:p>
                      <a:r>
                        <a:rPr sz="1400">
                          <a:latin typeface="Arial"/>
                        </a:rPr>
                        <a:t>Updates</a:t>
                      </a:r>
                    </a:p>
                  </a:txBody>
                  <a:tcPr marT="36576" marB="36576"/>
                </a:tc>
                <a:tc>
                  <a:txBody>
                    <a:bodyPr wrap="square"/>
                    <a:lstStyle/>
                    <a:p>
                      <a:r>
                        <a:rPr sz="1400">
                          <a:latin typeface="Arial"/>
                        </a:rPr>
                        <a:t>software</a:t>
                      </a:r>
                    </a:p>
                  </a:txBody>
                  <a:tcPr marT="36576" marB="36576"/>
                </a:tc>
                <a:tc>
                  <a:txBody>
                    <a:bodyPr wrap="square"/>
                    <a:lstStyle/>
                    <a:p>
                      <a:r>
                        <a:rPr sz="1400">
                          <a:latin typeface="Arial"/>
                        </a:rPr>
                        <a:t>tijdelijk traag, herstart</a:t>
                      </a:r>
                    </a:p>
                  </a:txBody>
                  <a:tcPr marT="36576" marB="36576"/>
                </a:tc>
              </a:tr>
              <a:tr h="329184">
                <a:tc>
                  <a:txBody>
                    <a:bodyPr wrap="square"/>
                    <a:lstStyle/>
                    <a:p>
                      <a:r>
                        <a:rPr sz="1400">
                          <a:latin typeface="Arial"/>
                        </a:rPr>
                        <a:t>Virussen en malware</a:t>
                      </a:r>
                    </a:p>
                  </a:txBody>
                  <a:tcPr marT="36576" marB="36576"/>
                </a:tc>
                <a:tc>
                  <a:txBody>
                    <a:bodyPr wrap="square"/>
                    <a:lstStyle/>
                    <a:p>
                      <a:r>
                        <a:rPr sz="1400">
                          <a:latin typeface="Arial"/>
                        </a:rPr>
                        <a:t>software</a:t>
                      </a:r>
                    </a:p>
                  </a:txBody>
                  <a:tcPr marT="36576" marB="36576"/>
                </a:tc>
                <a:tc>
                  <a:txBody>
                    <a:bodyPr wrap="square"/>
                    <a:lstStyle/>
                    <a:p>
                      <a:r>
                        <a:rPr sz="1400">
                          <a:latin typeface="Arial"/>
                        </a:rPr>
                        <a:t>pop-ups, CPU hoog</a:t>
                      </a:r>
                    </a:p>
                  </a:txBody>
                  <a:tcPr marT="36576" marB="36576"/>
                </a:tc>
              </a:tr>
              <a:tr h="329184">
                <a:tc>
                  <a:txBody>
                    <a:bodyPr wrap="square"/>
                    <a:lstStyle/>
                    <a:p>
                      <a:r>
                        <a:rPr sz="1400">
                          <a:latin typeface="Arial"/>
                        </a:rPr>
                        <a:t>Té veel controles bij het opstarten</a:t>
                      </a:r>
                    </a:p>
                  </a:txBody>
                  <a:tcPr marT="36576" marB="36576"/>
                </a:tc>
                <a:tc>
                  <a:txBody>
                    <a:bodyPr wrap="square"/>
                    <a:lstStyle/>
                    <a:p>
                      <a:r>
                        <a:rPr sz="1400">
                          <a:latin typeface="Arial"/>
                        </a:rPr>
                        <a:t>software + hardware</a:t>
                      </a:r>
                    </a:p>
                  </a:txBody>
                  <a:tcPr marT="36576" marB="36576"/>
                </a:tc>
                <a:tc>
                  <a:txBody>
                    <a:bodyPr wrap="square"/>
                    <a:lstStyle/>
                    <a:p>
                      <a:r>
                        <a:rPr sz="1400">
                          <a:latin typeface="Arial"/>
                        </a:rPr>
                        <a:t>lang wachten vóór het logo</a:t>
                      </a:r>
                    </a:p>
                  </a:txBody>
                  <a:tcPr marT="36576" marB="36576"/>
                </a:tc>
              </a:tr>
              <a:tr h="329184">
                <a:tc>
                  <a:txBody>
                    <a:bodyPr wrap="square"/>
                    <a:lstStyle/>
                    <a:p>
                      <a:r>
                        <a:rPr sz="1400">
                          <a:latin typeface="Arial"/>
                        </a:rPr>
                        <a:t>Schijf te vol, te traag of versleten</a:t>
                      </a:r>
                    </a:p>
                  </a:txBody>
                  <a:tcPr marT="36576" marB="36576"/>
                </a:tc>
                <a:tc>
                  <a:txBody>
                    <a:bodyPr wrap="square"/>
                    <a:lstStyle/>
                    <a:p>
                      <a:r>
                        <a:rPr sz="1400">
                          <a:latin typeface="Arial"/>
                        </a:rPr>
                        <a:t>software + hardware</a:t>
                      </a:r>
                    </a:p>
                  </a:txBody>
                  <a:tcPr marT="36576" marB="36576"/>
                </a:tc>
                <a:tc>
                  <a:txBody>
                    <a:bodyPr wrap="square"/>
                    <a:lstStyle/>
                    <a:p>
                      <a:r>
                        <a:rPr sz="1400">
                          <a:latin typeface="Arial"/>
                        </a:rPr>
                        <a:t>rode balk bij C:, klikgeluiden</a:t>
                      </a:r>
                    </a:p>
                  </a:txBody>
                  <a:tcPr marT="36576" marB="36576"/>
                </a:tc>
              </a:tr>
              <a:tr h="329184">
                <a:tc>
                  <a:txBody>
                    <a:bodyPr wrap="square"/>
                    <a:lstStyle/>
                    <a:p>
                      <a:r>
                        <a:rPr sz="1400">
                          <a:latin typeface="Arial"/>
                        </a:rPr>
                        <a:t>Synchronisatie (OneDrive, Google Drive …)</a:t>
                      </a:r>
                    </a:p>
                  </a:txBody>
                  <a:tcPr marT="36576" marB="36576"/>
                </a:tc>
                <a:tc>
                  <a:txBody>
                    <a:bodyPr wrap="square"/>
                    <a:lstStyle/>
                    <a:p>
                      <a:r>
                        <a:rPr sz="1400">
                          <a:latin typeface="Arial"/>
                        </a:rPr>
                        <a:t>software</a:t>
                      </a:r>
                    </a:p>
                  </a:txBody>
                  <a:tcPr marT="36576" marB="36576"/>
                </a:tc>
                <a:tc>
                  <a:txBody>
                    <a:bodyPr wrap="square"/>
                    <a:lstStyle/>
                    <a:p>
                      <a:r>
                        <a:rPr sz="1400">
                          <a:latin typeface="Arial"/>
                        </a:rPr>
                        <a:t>blauwe pijltjes in het systeemvak</a:t>
                      </a:r>
                    </a:p>
                  </a:txBody>
                  <a:tcPr marT="36576" marB="36576"/>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wrap="square"/>
          <a:lstStyle/>
          <a:p>
            <a:r>
              <a:rPr sz="2000" b="1">
                <a:latin typeface="Arial"/>
              </a:rPr>
              <a:t>Processen: </a:t>
            </a:r>
            <a:r>
              <a:rPr sz="2000">
                <a:latin typeface="Arial"/>
              </a:rPr>
              <a:t>welk programma vraagt hoeveel CPU, geheugen, schijf en GPU? (H3)</a:t>
            </a:r>
          </a:p>
          <a:p>
            <a:r>
              <a:rPr sz="2000" b="1">
                <a:latin typeface="Arial"/>
              </a:rPr>
              <a:t>Prestaties: </a:t>
            </a:r>
            <a:r>
              <a:rPr sz="2000">
                <a:latin typeface="Arial"/>
              </a:rPr>
              <a:t>grafieken per onderdeel, SSD of HDD, hoeveel RAM (H4)</a:t>
            </a:r>
          </a:p>
          <a:p>
            <a:r>
              <a:rPr sz="2000" b="1">
                <a:latin typeface="Arial"/>
              </a:rPr>
              <a:t>Opstarten: </a:t>
            </a:r>
            <a:r>
              <a:rPr sz="2000">
                <a:latin typeface="Arial"/>
              </a:rPr>
              <a:t>wat start mee op, met welke invloed; Laatste BIOS-tijd (H2, H7)</a:t>
            </a:r>
          </a:p>
          <a:p>
            <a:r>
              <a:rPr sz="2000">
                <a:solidFill>
                  <a:srgbClr val="2E9E46"/>
                </a:solidFill>
                <a:latin typeface="Arial"/>
              </a:rPr>
              <a:t>Ctrl + Alt + Delete werkt ook, maar toont eerst een tussenscherm.</a:t>
            </a:r>
          </a:p>
        </p:txBody>
      </p:sp>
      <p:sp>
        <p:nvSpPr>
          <p:cNvPr id="3" name="Text Placeholder 2"/>
          <p:cNvSpPr>
            <a:spLocks noGrp="1"/>
          </p:cNvSpPr>
          <p:nvPr>
            <p:ph type="body" idx="1"/>
          </p:nvPr>
        </p:nvSpPr>
        <p:spPr/>
        <p:txBody>
          <a:bodyPr/>
          <a:lstStyle/>
          <a:p>
            <a:r>
              <a:t>Ctrl + Shift + Esc opent Taakbeheer meteen</a:t>
            </a:r>
          </a:p>
        </p:txBody>
      </p:sp>
      <p:sp>
        <p:nvSpPr>
          <p:cNvPr id="4" name="Title 3"/>
          <p:cNvSpPr>
            <a:spLocks noGrp="1"/>
          </p:cNvSpPr>
          <p:nvPr>
            <p:ph type="title"/>
          </p:nvPr>
        </p:nvSpPr>
        <p:spPr/>
        <p:txBody>
          <a:bodyPr/>
          <a:lstStyle/>
          <a:p>
            <a:r>
              <a:t>Taakbeheer: meten is weten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Prestatie-analyse: welke tool?</a:t>
            </a:r>
          </a:p>
        </p:txBody>
      </p:sp>
      <p:graphicFrame>
        <p:nvGraphicFramePr>
          <p:cNvPr id="3" name="Table 2"/>
          <p:cNvGraphicFramePr>
            <a:graphicFrameLocks noGrp="1"/>
          </p:cNvGraphicFramePr>
          <p:nvPr/>
        </p:nvGraphicFramePr>
        <p:xfrm>
          <a:off x="841248" y="2103120"/>
          <a:ext cx="10515599" cy="2304288"/>
        </p:xfrm>
        <a:graphic>
          <a:graphicData uri="http://schemas.openxmlformats.org/drawingml/2006/table">
            <a:tbl>
              <a:tblPr firstRow="1" bandRow="1">
                <a:tableStyleId>{5C22544A-7EE6-4342-B048-85BDC9FD1C3A}</a:tableStyleId>
              </a:tblPr>
              <a:tblGrid>
                <a:gridCol w="3749039"/>
                <a:gridCol w="3200400"/>
                <a:gridCol w="3566160"/>
              </a:tblGrid>
              <a:tr h="329184">
                <a:tc>
                  <a:txBody>
                    <a:bodyPr wrap="square"/>
                    <a:lstStyle/>
                    <a:p>
                      <a:r>
                        <a:rPr sz="1500">
                          <a:latin typeface="Arial"/>
                        </a:rPr>
                        <a:t>Tool</a:t>
                      </a:r>
                    </a:p>
                  </a:txBody>
                  <a:tcPr marT="36576" marB="36576"/>
                </a:tc>
                <a:tc>
                  <a:txBody>
                    <a:bodyPr wrap="square"/>
                    <a:lstStyle/>
                    <a:p>
                      <a:r>
                        <a:rPr sz="1500">
                          <a:latin typeface="Arial"/>
                        </a:rPr>
                        <a:t>Openen</a:t>
                      </a:r>
                    </a:p>
                  </a:txBody>
                  <a:tcPr marT="36576" marB="36576"/>
                </a:tc>
                <a:tc>
                  <a:txBody>
                    <a:bodyPr wrap="square"/>
                    <a:lstStyle/>
                    <a:p>
                      <a:r>
                        <a:rPr sz="1500">
                          <a:latin typeface="Arial"/>
                        </a:rPr>
                        <a:t>Wat zie je?</a:t>
                      </a:r>
                    </a:p>
                  </a:txBody>
                  <a:tcPr marT="36576" marB="36576"/>
                </a:tc>
              </a:tr>
              <a:tr h="329184">
                <a:tc>
                  <a:txBody>
                    <a:bodyPr wrap="square"/>
                    <a:lstStyle/>
                    <a:p>
                      <a:r>
                        <a:rPr sz="1500" b="1">
                          <a:latin typeface="Arial"/>
                        </a:rPr>
                        <a:t>Taakbeheer</a:t>
                      </a:r>
                    </a:p>
                  </a:txBody>
                  <a:tcPr marT="36576" marB="36576"/>
                </a:tc>
                <a:tc>
                  <a:txBody>
                    <a:bodyPr wrap="square"/>
                    <a:lstStyle/>
                    <a:p>
                      <a:r>
                        <a:rPr sz="1500">
                          <a:latin typeface="Arial"/>
                        </a:rPr>
                        <a:t>Ctrl + Shift + Esc</a:t>
                      </a:r>
                    </a:p>
                  </a:txBody>
                  <a:tcPr marT="36576" marB="36576"/>
                </a:tc>
                <a:tc>
                  <a:txBody>
                    <a:bodyPr wrap="square"/>
                    <a:lstStyle/>
                    <a:p>
                      <a:r>
                        <a:rPr sz="1500">
                          <a:latin typeface="Arial"/>
                        </a:rPr>
                        <a:t>wat de pc nu belast</a:t>
                      </a:r>
                    </a:p>
                  </a:txBody>
                  <a:tcPr marT="36576" marB="36576"/>
                </a:tc>
              </a:tr>
              <a:tr h="329184">
                <a:tc>
                  <a:txBody>
                    <a:bodyPr wrap="square"/>
                    <a:lstStyle/>
                    <a:p>
                      <a:r>
                        <a:rPr sz="1500" b="1">
                          <a:latin typeface="Arial"/>
                        </a:rPr>
                        <a:t>Broncontrole</a:t>
                      </a:r>
                    </a:p>
                  </a:txBody>
                  <a:tcPr marT="36576" marB="36576"/>
                </a:tc>
                <a:tc>
                  <a:txBody>
                    <a:bodyPr wrap="square"/>
                    <a:lstStyle/>
                    <a:p>
                      <a:r>
                        <a:rPr sz="1500">
                          <a:latin typeface="Arial"/>
                        </a:rPr>
                        <a:t>startmenu: resmon</a:t>
                      </a:r>
                    </a:p>
                  </a:txBody>
                  <a:tcPr marT="36576" marB="36576"/>
                </a:tc>
                <a:tc>
                  <a:txBody>
                    <a:bodyPr wrap="square"/>
                    <a:lstStyle/>
                    <a:p>
                      <a:r>
                        <a:rPr sz="1500">
                          <a:latin typeface="Arial"/>
                        </a:rPr>
                        <a:t>per proces: schijf, netwerk en geheugen in detail</a:t>
                      </a:r>
                    </a:p>
                  </a:txBody>
                  <a:tcPr marT="36576" marB="36576"/>
                </a:tc>
              </a:tr>
              <a:tr h="329184">
                <a:tc>
                  <a:txBody>
                    <a:bodyPr wrap="square"/>
                    <a:lstStyle/>
                    <a:p>
                      <a:r>
                        <a:rPr sz="1500" b="1">
                          <a:latin typeface="Arial"/>
                        </a:rPr>
                        <a:t>Betrouwbaarheidsgeschiedenis</a:t>
                      </a:r>
                    </a:p>
                  </a:txBody>
                  <a:tcPr marT="36576" marB="36576"/>
                </a:tc>
                <a:tc>
                  <a:txBody>
                    <a:bodyPr wrap="square"/>
                    <a:lstStyle/>
                    <a:p>
                      <a:r>
                        <a:rPr sz="1500">
                          <a:latin typeface="Arial"/>
                        </a:rPr>
                        <a:t>startmenu: betrouwbaarheid</a:t>
                      </a:r>
                    </a:p>
                  </a:txBody>
                  <a:tcPr marT="36576" marB="36576"/>
                </a:tc>
                <a:tc>
                  <a:txBody>
                    <a:bodyPr wrap="square"/>
                    <a:lstStyle/>
                    <a:p>
                      <a:r>
                        <a:rPr sz="1500">
                          <a:latin typeface="Arial"/>
                        </a:rPr>
                        <a:t>crashes en mislukte updates per dag</a:t>
                      </a:r>
                    </a:p>
                  </a:txBody>
                  <a:tcPr marT="36576" marB="36576"/>
                </a:tc>
              </a:tr>
              <a:tr h="329184">
                <a:tc>
                  <a:txBody>
                    <a:bodyPr wrap="square"/>
                    <a:lstStyle/>
                    <a:p>
                      <a:r>
                        <a:rPr sz="1500" b="1">
                          <a:latin typeface="Arial"/>
                        </a:rPr>
                        <a:t>Prestatiemeter</a:t>
                      </a:r>
                    </a:p>
                  </a:txBody>
                  <a:tcPr marT="36576" marB="36576"/>
                </a:tc>
                <a:tc>
                  <a:txBody>
                    <a:bodyPr wrap="square"/>
                    <a:lstStyle/>
                    <a:p>
                      <a:r>
                        <a:rPr sz="1500">
                          <a:latin typeface="Arial"/>
                        </a:rPr>
                        <a:t>perfmon /report (als beheerder)</a:t>
                      </a:r>
                    </a:p>
                  </a:txBody>
                  <a:tcPr marT="36576" marB="36576"/>
                </a:tc>
                <a:tc>
                  <a:txBody>
                    <a:bodyPr wrap="square"/>
                    <a:lstStyle/>
                    <a:p>
                      <a:r>
                        <a:rPr sz="1500">
                          <a:latin typeface="Arial"/>
                        </a:rPr>
                        <a:t>systeemdiagnoserapport na 60 seconden</a:t>
                      </a:r>
                    </a:p>
                  </a:txBody>
                  <a:tcPr marT="36576" marB="36576"/>
                </a:tc>
              </a:tr>
              <a:tr h="329184">
                <a:tc>
                  <a:txBody>
                    <a:bodyPr wrap="square"/>
                    <a:lstStyle/>
                    <a:p>
                      <a:r>
                        <a:rPr sz="1500" b="1">
                          <a:latin typeface="Arial"/>
                        </a:rPr>
                        <a:t>Systeeminformatie</a:t>
                      </a:r>
                    </a:p>
                  </a:txBody>
                  <a:tcPr marT="36576" marB="36576"/>
                </a:tc>
                <a:tc>
                  <a:txBody>
                    <a:bodyPr wrap="square"/>
                    <a:lstStyle/>
                    <a:p>
                      <a:r>
                        <a:rPr sz="1500">
                          <a:latin typeface="Arial"/>
                        </a:rPr>
                        <a:t>startmenu: msinfo32</a:t>
                      </a:r>
                    </a:p>
                  </a:txBody>
                  <a:tcPr marT="36576" marB="36576"/>
                </a:tc>
                <a:tc>
                  <a:txBody>
                    <a:bodyPr wrap="square"/>
                    <a:lstStyle/>
                    <a:p>
                      <a:r>
                        <a:rPr sz="1500">
                          <a:latin typeface="Arial"/>
                        </a:rPr>
                        <a:t>hardware, BIOS-versie, Windows-versie</a:t>
                      </a:r>
                    </a:p>
                  </a:txBody>
                  <a:tcPr marT="36576" marB="36576"/>
                </a:tc>
              </a:tr>
              <a:tr h="329184">
                <a:tc>
                  <a:txBody>
                    <a:bodyPr wrap="square"/>
                    <a:lstStyle/>
                    <a:p>
                      <a:r>
                        <a:rPr sz="1500" b="1">
                          <a:latin typeface="Arial"/>
                        </a:rPr>
                        <a:t>CrystalDiskInfo</a:t>
                      </a:r>
                    </a:p>
                  </a:txBody>
                  <a:tcPr marT="36576" marB="36576"/>
                </a:tc>
                <a:tc>
                  <a:txBody>
                    <a:bodyPr wrap="square"/>
                    <a:lstStyle/>
                    <a:p>
                      <a:r>
                        <a:rPr sz="1500">
                          <a:latin typeface="Arial"/>
                        </a:rPr>
                        <a:t>gratis programma</a:t>
                      </a:r>
                    </a:p>
                  </a:txBody>
                  <a:tcPr marT="36576" marB="36576"/>
                </a:tc>
                <a:tc>
                  <a:txBody>
                    <a:bodyPr wrap="square"/>
                    <a:lstStyle/>
                    <a:p>
                      <a:r>
                        <a:rPr sz="1500">
                          <a:latin typeface="Arial"/>
                        </a:rPr>
                        <a:t>gezondheid van de schijf (SMART)</a:t>
                      </a:r>
                    </a:p>
                  </a:txBody>
                  <a:tcPr marT="36576" marB="36576"/>
                </a:tc>
              </a:tr>
            </a:tbl>
          </a:graphicData>
        </a:graphic>
      </p:graphicFrame>
      <p:sp>
        <p:nvSpPr>
          <p:cNvPr id="4" name="TextBox 3"/>
          <p:cNvSpPr txBox="1"/>
          <p:nvPr/>
        </p:nvSpPr>
        <p:spPr>
          <a:xfrm>
            <a:off x="841248" y="4800600"/>
            <a:ext cx="10515600" cy="822960"/>
          </a:xfrm>
          <a:prstGeom prst="rect">
            <a:avLst/>
          </a:prstGeom>
          <a:noFill/>
        </p:spPr>
        <p:txBody>
          <a:bodyPr wrap="square" lIns="0" rIns="0">
            <a:spAutoFit/>
          </a:bodyPr>
          <a:lstStyle/>
          <a:p>
            <a:r>
              <a:rPr sz="1700" b="1">
                <a:solidFill>
                  <a:srgbClr val="262626"/>
                </a:solidFill>
                <a:latin typeface="Arial"/>
              </a:rPr>
              <a:t>Werkwijze: </a:t>
            </a:r>
            <a:r>
              <a:rPr sz="1700">
                <a:solidFill>
                  <a:srgbClr val="262626"/>
                </a:solidFill>
                <a:latin typeface="Arial"/>
              </a:rPr>
              <a:t>eerst Taakbeheer voor het overzicht, dan de tool die het detail toont.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wrap="square"/>
          <a:lstStyle/>
          <a:p>
            <a:r>
              <a:rPr sz="2000">
                <a:latin typeface="Arial"/>
              </a:rPr>
              <a:t>1. Open Taakbeheer: Ctrl + Shift + Esc</a:t>
            </a:r>
          </a:p>
          <a:p>
            <a:r>
              <a:rPr sz="2000">
                <a:latin typeface="Arial"/>
              </a:rPr>
              <a:t>2. Tabblad Opstarten (Windows 11: Opstart-apps)</a:t>
            </a:r>
          </a:p>
          <a:p>
            <a:r>
              <a:rPr sz="2000">
                <a:latin typeface="Arial"/>
              </a:rPr>
              <a:t>3. Sorteer op de kolom "Invloed op opstarten"</a:t>
            </a:r>
          </a:p>
          <a:p>
            <a:r>
              <a:rPr sz="2000">
                <a:latin typeface="Arial"/>
              </a:rPr>
              <a:t>4. Rechtsklik → Uitschakelen</a:t>
            </a:r>
          </a:p>
          <a:p>
            <a:r>
              <a:rPr sz="2000">
                <a:solidFill>
                  <a:srgbClr val="2E9E46"/>
                </a:solidFill>
                <a:latin typeface="Arial"/>
              </a:rPr>
              <a:t>Windows 11: ook via Instellingen → Apps → Opstarten. Uitschakelen ≠ verwijderen.</a:t>
            </a:r>
          </a:p>
        </p:txBody>
      </p:sp>
      <p:sp>
        <p:nvSpPr>
          <p:cNvPr id="3" name="Text Placeholder 2"/>
          <p:cNvSpPr>
            <a:spLocks noGrp="1"/>
          </p:cNvSpPr>
          <p:nvPr>
            <p:ph type="body" idx="1"/>
          </p:nvPr>
        </p:nvSpPr>
        <p:spPr/>
        <p:txBody>
          <a:bodyPr/>
          <a:lstStyle/>
          <a:p>
            <a:r>
              <a:t>Programma's die vanzelf meestarten, vertragen het opstarten</a:t>
            </a:r>
          </a:p>
        </p:txBody>
      </p:sp>
      <p:sp>
        <p:nvSpPr>
          <p:cNvPr id="4" name="Title 3"/>
          <p:cNvSpPr>
            <a:spLocks noGrp="1"/>
          </p:cNvSpPr>
          <p:nvPr>
            <p:ph type="title"/>
          </p:nvPr>
        </p:nvSpPr>
        <p:spPr/>
        <p:txBody>
          <a:bodyPr/>
          <a:lstStyle/>
          <a:p>
            <a:r>
              <a:t>Opstartprogramma's uitschakelen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 laat je aan, wat schakel je uit?</a:t>
            </a:r>
          </a:p>
        </p:txBody>
      </p:sp>
      <p:graphicFrame>
        <p:nvGraphicFramePr>
          <p:cNvPr id="3" name="Table 2"/>
          <p:cNvGraphicFramePr>
            <a:graphicFrameLocks noGrp="1"/>
          </p:cNvGraphicFramePr>
          <p:nvPr/>
        </p:nvGraphicFramePr>
        <p:xfrm>
          <a:off x="841248" y="2103120"/>
          <a:ext cx="10515600" cy="2304288"/>
        </p:xfrm>
        <a:graphic>
          <a:graphicData uri="http://schemas.openxmlformats.org/drawingml/2006/table">
            <a:tbl>
              <a:tblPr firstRow="1" bandRow="1">
                <a:tableStyleId>{5C22544A-7EE6-4342-B048-85BDC9FD1C3A}</a:tableStyleId>
              </a:tblPr>
              <a:tblGrid>
                <a:gridCol w="3840480"/>
                <a:gridCol w="1645920"/>
                <a:gridCol w="1463040"/>
                <a:gridCol w="3566160"/>
              </a:tblGrid>
              <a:tr h="329184">
                <a:tc>
                  <a:txBody>
                    <a:bodyPr wrap="square"/>
                    <a:lstStyle/>
                    <a:p>
                      <a:r>
                        <a:rPr sz="1500">
                          <a:latin typeface="Arial"/>
                        </a:rPr>
                        <a:t>Naam</a:t>
                      </a:r>
                    </a:p>
                  </a:txBody>
                  <a:tcPr marT="36576" marB="36576"/>
                </a:tc>
                <a:tc>
                  <a:txBody>
                    <a:bodyPr wrap="square"/>
                    <a:lstStyle/>
                    <a:p>
                      <a:r>
                        <a:rPr sz="1500">
                          <a:latin typeface="Arial"/>
                        </a:rPr>
                        <a:t>Status</a:t>
                      </a:r>
                    </a:p>
                  </a:txBody>
                  <a:tcPr marT="36576" marB="36576"/>
                </a:tc>
                <a:tc>
                  <a:txBody>
                    <a:bodyPr wrap="square"/>
                    <a:lstStyle/>
                    <a:p>
                      <a:r>
                        <a:rPr sz="1500">
                          <a:latin typeface="Arial"/>
                        </a:rPr>
                        <a:t>Invloed</a:t>
                      </a:r>
                    </a:p>
                  </a:txBody>
                  <a:tcPr marT="36576" marB="36576"/>
                </a:tc>
                <a:tc>
                  <a:txBody>
                    <a:bodyPr wrap="square"/>
                    <a:lstStyle/>
                    <a:p>
                      <a:r>
                        <a:rPr sz="1500">
                          <a:latin typeface="Arial"/>
                        </a:rPr>
                        <a:t>Advies</a:t>
                      </a:r>
                    </a:p>
                  </a:txBody>
                  <a:tcPr marT="36576" marB="36576"/>
                </a:tc>
              </a:tr>
              <a:tr h="329184">
                <a:tc>
                  <a:txBody>
                    <a:bodyPr wrap="square"/>
                    <a:lstStyle/>
                    <a:p>
                      <a:r>
                        <a:rPr sz="1500">
                          <a:latin typeface="Arial"/>
                        </a:rPr>
                        <a:t>Microsoft Teams</a:t>
                      </a:r>
                    </a:p>
                  </a:txBody>
                  <a:tcPr marT="36576" marB="36576"/>
                </a:tc>
                <a:tc>
                  <a:txBody>
                    <a:bodyPr wrap="square"/>
                    <a:lstStyle/>
                    <a:p>
                      <a:r>
                        <a:rPr sz="1500">
                          <a:latin typeface="Arial"/>
                        </a:rPr>
                        <a:t>Ingeschakeld</a:t>
                      </a:r>
                    </a:p>
                  </a:txBody>
                  <a:tcPr marT="36576" marB="36576"/>
                </a:tc>
                <a:tc>
                  <a:txBody>
                    <a:bodyPr wrap="square"/>
                    <a:lstStyle/>
                    <a:p>
                      <a:r>
                        <a:rPr sz="1500">
                          <a:latin typeface="Arial"/>
                        </a:rPr>
                        <a:t>Hoog</a:t>
                      </a:r>
                    </a:p>
                  </a:txBody>
                  <a:tcPr marT="36576" marB="36576"/>
                </a:tc>
                <a:tc>
                  <a:txBody>
                    <a:bodyPr wrap="square"/>
                    <a:lstStyle/>
                    <a:p>
                      <a:r>
                        <a:rPr sz="1500" b="1">
                          <a:solidFill>
                            <a:srgbClr val="2E9E46"/>
                          </a:solidFill>
                          <a:latin typeface="Arial"/>
                        </a:rPr>
                        <a:t>uit, tenzij dagelijks gebruikt</a:t>
                      </a:r>
                    </a:p>
                  </a:txBody>
                  <a:tcPr marT="36576" marB="36576"/>
                </a:tc>
              </a:tr>
              <a:tr h="329184">
                <a:tc>
                  <a:txBody>
                    <a:bodyPr wrap="square"/>
                    <a:lstStyle/>
                    <a:p>
                      <a:r>
                        <a:rPr sz="1500">
                          <a:latin typeface="Arial"/>
                        </a:rPr>
                        <a:t>Spotify</a:t>
                      </a:r>
                    </a:p>
                  </a:txBody>
                  <a:tcPr marT="36576" marB="36576"/>
                </a:tc>
                <a:tc>
                  <a:txBody>
                    <a:bodyPr wrap="square"/>
                    <a:lstStyle/>
                    <a:p>
                      <a:r>
                        <a:rPr sz="1500">
                          <a:latin typeface="Arial"/>
                        </a:rPr>
                        <a:t>Ingeschakeld</a:t>
                      </a:r>
                    </a:p>
                  </a:txBody>
                  <a:tcPr marT="36576" marB="36576"/>
                </a:tc>
                <a:tc>
                  <a:txBody>
                    <a:bodyPr wrap="square"/>
                    <a:lstStyle/>
                    <a:p>
                      <a:r>
                        <a:rPr sz="1500">
                          <a:latin typeface="Arial"/>
                        </a:rPr>
                        <a:t>Gemiddeld</a:t>
                      </a:r>
                    </a:p>
                  </a:txBody>
                  <a:tcPr marT="36576" marB="36576"/>
                </a:tc>
                <a:tc>
                  <a:txBody>
                    <a:bodyPr wrap="square"/>
                    <a:lstStyle/>
                    <a:p>
                      <a:r>
                        <a:rPr sz="1500" b="1">
                          <a:solidFill>
                            <a:srgbClr val="2E9E46"/>
                          </a:solidFill>
                          <a:latin typeface="Arial"/>
                        </a:rPr>
                        <a:t>uit</a:t>
                      </a:r>
                    </a:p>
                  </a:txBody>
                  <a:tcPr marT="36576" marB="36576"/>
                </a:tc>
              </a:tr>
              <a:tr h="329184">
                <a:tc>
                  <a:txBody>
                    <a:bodyPr wrap="square"/>
                    <a:lstStyle/>
                    <a:p>
                      <a:r>
                        <a:rPr sz="1500">
                          <a:latin typeface="Arial"/>
                        </a:rPr>
                        <a:t>Steam Client Bootstrapper</a:t>
                      </a:r>
                    </a:p>
                  </a:txBody>
                  <a:tcPr marT="36576" marB="36576"/>
                </a:tc>
                <a:tc>
                  <a:txBody>
                    <a:bodyPr wrap="square"/>
                    <a:lstStyle/>
                    <a:p>
                      <a:r>
                        <a:rPr sz="1500">
                          <a:latin typeface="Arial"/>
                        </a:rPr>
                        <a:t>Ingeschakeld</a:t>
                      </a:r>
                    </a:p>
                  </a:txBody>
                  <a:tcPr marT="36576" marB="36576"/>
                </a:tc>
                <a:tc>
                  <a:txBody>
                    <a:bodyPr wrap="square"/>
                    <a:lstStyle/>
                    <a:p>
                      <a:r>
                        <a:rPr sz="1500">
                          <a:latin typeface="Arial"/>
                        </a:rPr>
                        <a:t>Gemiddeld</a:t>
                      </a:r>
                    </a:p>
                  </a:txBody>
                  <a:tcPr marT="36576" marB="36576"/>
                </a:tc>
                <a:tc>
                  <a:txBody>
                    <a:bodyPr wrap="square"/>
                    <a:lstStyle/>
                    <a:p>
                      <a:r>
                        <a:rPr sz="1500" b="1">
                          <a:solidFill>
                            <a:srgbClr val="2E9E46"/>
                          </a:solidFill>
                          <a:latin typeface="Arial"/>
                        </a:rPr>
                        <a:t>uit</a:t>
                      </a:r>
                    </a:p>
                  </a:txBody>
                  <a:tcPr marT="36576" marB="36576"/>
                </a:tc>
              </a:tr>
              <a:tr h="329184">
                <a:tc>
                  <a:txBody>
                    <a:bodyPr wrap="square"/>
                    <a:lstStyle/>
                    <a:p>
                      <a:r>
                        <a:rPr sz="1500">
                          <a:latin typeface="Arial"/>
                        </a:rPr>
                        <a:t>Windows Security notification icon</a:t>
                      </a:r>
                    </a:p>
                  </a:txBody>
                  <a:tcPr marT="36576" marB="36576"/>
                </a:tc>
                <a:tc>
                  <a:txBody>
                    <a:bodyPr wrap="square"/>
                    <a:lstStyle/>
                    <a:p>
                      <a:r>
                        <a:rPr sz="1500">
                          <a:latin typeface="Arial"/>
                        </a:rPr>
                        <a:t>Ingeschakeld</a:t>
                      </a:r>
                    </a:p>
                  </a:txBody>
                  <a:tcPr marT="36576" marB="36576"/>
                </a:tc>
                <a:tc>
                  <a:txBody>
                    <a:bodyPr wrap="square"/>
                    <a:lstStyle/>
                    <a:p>
                      <a:r>
                        <a:rPr sz="1500">
                          <a:latin typeface="Arial"/>
                        </a:rPr>
                        <a:t>Laag</a:t>
                      </a:r>
                    </a:p>
                  </a:txBody>
                  <a:tcPr marT="36576" marB="36576"/>
                </a:tc>
                <a:tc>
                  <a:txBody>
                    <a:bodyPr wrap="square"/>
                    <a:lstStyle/>
                    <a:p>
                      <a:r>
                        <a:rPr sz="1500" b="1">
                          <a:solidFill>
                            <a:srgbClr val="203157"/>
                          </a:solidFill>
                          <a:latin typeface="Arial"/>
                        </a:rPr>
                        <a:t>aan: beveiliging</a:t>
                      </a:r>
                    </a:p>
                  </a:txBody>
                  <a:tcPr marT="36576" marB="36576"/>
                </a:tc>
              </a:tr>
              <a:tr h="329184">
                <a:tc>
                  <a:txBody>
                    <a:bodyPr wrap="square"/>
                    <a:lstStyle/>
                    <a:p>
                      <a:r>
                        <a:rPr sz="1500">
                          <a:latin typeface="Arial"/>
                        </a:rPr>
                        <a:t>Realtek HD Audio Universal Service</a:t>
                      </a:r>
                    </a:p>
                  </a:txBody>
                  <a:tcPr marT="36576" marB="36576"/>
                </a:tc>
                <a:tc>
                  <a:txBody>
                    <a:bodyPr wrap="square"/>
                    <a:lstStyle/>
                    <a:p>
                      <a:r>
                        <a:rPr sz="1500">
                          <a:latin typeface="Arial"/>
                        </a:rPr>
                        <a:t>Ingeschakeld</a:t>
                      </a:r>
                    </a:p>
                  </a:txBody>
                  <a:tcPr marT="36576" marB="36576"/>
                </a:tc>
                <a:tc>
                  <a:txBody>
                    <a:bodyPr wrap="square"/>
                    <a:lstStyle/>
                    <a:p>
                      <a:r>
                        <a:rPr sz="1500">
                          <a:latin typeface="Arial"/>
                        </a:rPr>
                        <a:t>Laag</a:t>
                      </a:r>
                    </a:p>
                  </a:txBody>
                  <a:tcPr marT="36576" marB="36576"/>
                </a:tc>
                <a:tc>
                  <a:txBody>
                    <a:bodyPr wrap="square"/>
                    <a:lstStyle/>
                    <a:p>
                      <a:r>
                        <a:rPr sz="1500" b="1">
                          <a:solidFill>
                            <a:srgbClr val="203157"/>
                          </a:solidFill>
                          <a:latin typeface="Arial"/>
                        </a:rPr>
                        <a:t>aan: geluid</a:t>
                      </a:r>
                    </a:p>
                  </a:txBody>
                  <a:tcPr marT="36576" marB="36576"/>
                </a:tc>
              </a:tr>
              <a:tr h="329184">
                <a:tc>
                  <a:txBody>
                    <a:bodyPr wrap="square"/>
                    <a:lstStyle/>
                    <a:p>
                      <a:r>
                        <a:rPr sz="1500">
                          <a:latin typeface="Arial"/>
                        </a:rPr>
                        <a:t>Synaptics TouchPad Enhancements</a:t>
                      </a:r>
                    </a:p>
                  </a:txBody>
                  <a:tcPr marT="36576" marB="36576"/>
                </a:tc>
                <a:tc>
                  <a:txBody>
                    <a:bodyPr wrap="square"/>
                    <a:lstStyle/>
                    <a:p>
                      <a:r>
                        <a:rPr sz="1500">
                          <a:latin typeface="Arial"/>
                        </a:rPr>
                        <a:t>Ingeschakeld</a:t>
                      </a:r>
                    </a:p>
                  </a:txBody>
                  <a:tcPr marT="36576" marB="36576"/>
                </a:tc>
                <a:tc>
                  <a:txBody>
                    <a:bodyPr wrap="square"/>
                    <a:lstStyle/>
                    <a:p>
                      <a:r>
                        <a:rPr sz="1500">
                          <a:latin typeface="Arial"/>
                        </a:rPr>
                        <a:t>Laag</a:t>
                      </a:r>
                    </a:p>
                  </a:txBody>
                  <a:tcPr marT="36576" marB="36576"/>
                </a:tc>
                <a:tc>
                  <a:txBody>
                    <a:bodyPr wrap="square"/>
                    <a:lstStyle/>
                    <a:p>
                      <a:r>
                        <a:rPr sz="1500" b="1">
                          <a:solidFill>
                            <a:srgbClr val="203157"/>
                          </a:solidFill>
                          <a:latin typeface="Arial"/>
                        </a:rPr>
                        <a:t>aan: touchpad</a:t>
                      </a:r>
                    </a:p>
                  </a:txBody>
                  <a:tcPr marT="36576" marB="36576"/>
                </a:tc>
              </a:tr>
            </a:tbl>
          </a:graphicData>
        </a:graphic>
      </p:graphicFrame>
      <p:sp>
        <p:nvSpPr>
          <p:cNvPr id="4" name="TextBox 3"/>
          <p:cNvSpPr txBox="1"/>
          <p:nvPr/>
        </p:nvSpPr>
        <p:spPr>
          <a:xfrm>
            <a:off x="841248" y="4892040"/>
            <a:ext cx="10515600" cy="822960"/>
          </a:xfrm>
          <a:prstGeom prst="rect">
            <a:avLst/>
          </a:prstGeom>
          <a:noFill/>
        </p:spPr>
        <p:txBody>
          <a:bodyPr wrap="square" lIns="0" rIns="0">
            <a:spAutoFit/>
          </a:bodyPr>
          <a:lstStyle/>
          <a:p>
            <a:r>
              <a:rPr sz="1800" b="1">
                <a:solidFill>
                  <a:srgbClr val="262626"/>
                </a:solidFill>
                <a:latin typeface="Arial"/>
              </a:rPr>
              <a:t>Regel: </a:t>
            </a:r>
            <a:r>
              <a:rPr sz="1800">
                <a:solidFill>
                  <a:srgbClr val="262626"/>
                </a:solidFill>
                <a:latin typeface="Arial"/>
              </a:rPr>
              <a:t>beveiliging en drivers blijven aan; wat je zelf kan starten, gaat uit. Twijfel? Rechtsklik → Online zoeken.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wrap="square"/>
          <a:lstStyle/>
          <a:p>
            <a:r>
              <a:rPr sz="1600">
                <a:latin typeface="Arial"/>
              </a:rPr>
              <a:t>Blijven draaien als ze dicht zijn: meldingen, synchroniseren, updates</a:t>
            </a:r>
          </a:p>
          <a:p>
            <a:r>
              <a:rPr sz="1600">
                <a:latin typeface="Arial"/>
              </a:rPr>
              <a:t>Instellingen → Apps → Geïnstalleerde apps → ⋯ → Geavanceerde opties → Machtigingen voor achtergrond-apps: Nooit</a:t>
            </a:r>
          </a:p>
          <a:p>
            <a:r>
              <a:rPr sz="1600">
                <a:latin typeface="Arial"/>
              </a:rPr>
              <a:t>Systeemvak naast de klok: rechtsklik → Afsluiten</a:t>
            </a:r>
          </a:p>
        </p:txBody>
      </p:sp>
      <p:sp>
        <p:nvSpPr>
          <p:cNvPr id="3" name="Text Placeholder 2"/>
          <p:cNvSpPr>
            <a:spLocks noGrp="1"/>
          </p:cNvSpPr>
          <p:nvPr>
            <p:ph type="body" idx="3" sz="quarter"/>
          </p:nvPr>
        </p:nvSpPr>
        <p:spPr/>
        <p:txBody>
          <a:bodyPr/>
          <a:lstStyle/>
          <a:p>
            <a:r>
              <a:t>Browserextensies</a:t>
            </a:r>
          </a:p>
        </p:txBody>
      </p:sp>
      <p:sp>
        <p:nvSpPr>
          <p:cNvPr id="4" name="Content Placeholder 3"/>
          <p:cNvSpPr>
            <a:spLocks noGrp="1"/>
          </p:cNvSpPr>
          <p:nvPr>
            <p:ph idx="4" sz="quarter"/>
          </p:nvPr>
        </p:nvSpPr>
        <p:spPr/>
        <p:txBody>
          <a:bodyPr wrap="square"/>
          <a:lstStyle/>
          <a:p>
            <a:r>
              <a:rPr sz="1600">
                <a:latin typeface="Arial"/>
              </a:rPr>
              <a:t>Elke extensie gebruikt geheugen en processor</a:t>
            </a:r>
          </a:p>
          <a:p>
            <a:r>
              <a:rPr sz="1600" b="1">
                <a:latin typeface="Arial"/>
              </a:rPr>
              <a:t>Shift + Esc</a:t>
            </a:r>
            <a:r>
              <a:rPr sz="1600">
                <a:latin typeface="Arial"/>
              </a:rPr>
              <a:t> in Chrome of Edge: taakbeheer van de browser</a:t>
            </a:r>
          </a:p>
          <a:p>
            <a:r>
              <a:rPr sz="1600">
                <a:latin typeface="Arial"/>
              </a:rPr>
              <a:t>Ongebruikte extensies uitschakelen of verwijderen (chrome://extensions)</a:t>
            </a:r>
          </a:p>
          <a:p>
            <a:r>
              <a:rPr sz="1600">
                <a:solidFill>
                  <a:srgbClr val="2E9E46"/>
                </a:solidFill>
                <a:latin typeface="Arial"/>
              </a:rPr>
              <a:t>Browser gesloten = gesloten: zet "apps op de achtergrond uitvoeren" uit.</a:t>
            </a:r>
          </a:p>
        </p:txBody>
      </p:sp>
      <p:sp>
        <p:nvSpPr>
          <p:cNvPr id="5" name="Text Placeholder 4"/>
          <p:cNvSpPr>
            <a:spLocks noGrp="1"/>
          </p:cNvSpPr>
          <p:nvPr>
            <p:ph type="body" idx="1"/>
          </p:nvPr>
        </p:nvSpPr>
        <p:spPr/>
        <p:txBody>
          <a:bodyPr/>
          <a:lstStyle/>
          <a:p>
            <a:r>
              <a:t>Achtergrond-apps</a:t>
            </a:r>
          </a:p>
        </p:txBody>
      </p:sp>
      <p:sp>
        <p:nvSpPr>
          <p:cNvPr id="6" name="Title 5"/>
          <p:cNvSpPr>
            <a:spLocks noGrp="1"/>
          </p:cNvSpPr>
          <p:nvPr>
            <p:ph type="title"/>
          </p:nvPr>
        </p:nvSpPr>
        <p:spPr/>
        <p:txBody>
          <a:bodyPr/>
          <a:lstStyle/>
          <a:p>
            <a:r>
              <a:t>Apps op de achtergrond en browserextensies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Systeemvereisten: eerst vergelijken</a:t>
            </a:r>
          </a:p>
        </p:txBody>
      </p:sp>
      <p:graphicFrame>
        <p:nvGraphicFramePr>
          <p:cNvPr id="3" name="Table 2"/>
          <p:cNvGraphicFramePr>
            <a:graphicFrameLocks noGrp="1"/>
          </p:cNvGraphicFramePr>
          <p:nvPr/>
        </p:nvGraphicFramePr>
        <p:xfrm>
          <a:off x="841248" y="2103120"/>
          <a:ext cx="6400798" cy="1975104"/>
        </p:xfrm>
        <a:graphic>
          <a:graphicData uri="http://schemas.openxmlformats.org/drawingml/2006/table">
            <a:tbl>
              <a:tblPr firstRow="1" bandRow="1">
                <a:tableStyleId>{5C22544A-7EE6-4342-B048-85BDC9FD1C3A}</a:tableStyleId>
              </a:tblPr>
              <a:tblGrid>
                <a:gridCol w="2461846"/>
                <a:gridCol w="1969476"/>
                <a:gridCol w="1969476"/>
              </a:tblGrid>
              <a:tr h="329184">
                <a:tc>
                  <a:txBody>
                    <a:bodyPr wrap="square"/>
                    <a:lstStyle/>
                    <a:p>
                      <a:r>
                        <a:rPr sz="1500">
                          <a:latin typeface="Arial"/>
                        </a:rPr>
                        <a:t>Onderdeel</a:t>
                      </a:r>
                    </a:p>
                  </a:txBody>
                  <a:tcPr marT="36576" marB="36576"/>
                </a:tc>
                <a:tc>
                  <a:txBody>
                    <a:bodyPr wrap="square"/>
                    <a:lstStyle/>
                    <a:p>
                      <a:r>
                        <a:rPr sz="1500">
                          <a:latin typeface="Arial"/>
                        </a:rPr>
                        <a:t>Minimum</a:t>
                      </a:r>
                    </a:p>
                  </a:txBody>
                  <a:tcPr marT="36576" marB="36576"/>
                </a:tc>
                <a:tc>
                  <a:txBody>
                    <a:bodyPr wrap="square"/>
                    <a:lstStyle/>
                    <a:p>
                      <a:r>
                        <a:rPr sz="1500">
                          <a:latin typeface="Arial"/>
                        </a:rPr>
                        <a:t>Aanbevolen</a:t>
                      </a:r>
                    </a:p>
                  </a:txBody>
                  <a:tcPr marT="36576" marB="36576"/>
                </a:tc>
              </a:tr>
              <a:tr h="329184">
                <a:tc>
                  <a:txBody>
                    <a:bodyPr wrap="square"/>
                    <a:lstStyle/>
                    <a:p>
                      <a:r>
                        <a:rPr sz="1500">
                          <a:latin typeface="Arial"/>
                        </a:rPr>
                        <a:t>Processor</a:t>
                      </a:r>
                    </a:p>
                  </a:txBody>
                  <a:tcPr marT="36576" marB="36576"/>
                </a:tc>
                <a:tc>
                  <a:txBody>
                    <a:bodyPr wrap="square"/>
                    <a:lstStyle/>
                    <a:p>
                      <a:r>
                        <a:rPr sz="1500">
                          <a:latin typeface="Arial"/>
                        </a:rPr>
                        <a:t>4 kernen</a:t>
                      </a:r>
                    </a:p>
                  </a:txBody>
                  <a:tcPr marT="36576" marB="36576"/>
                </a:tc>
                <a:tc>
                  <a:txBody>
                    <a:bodyPr wrap="square"/>
                    <a:lstStyle/>
                    <a:p>
                      <a:r>
                        <a:rPr sz="1500">
                          <a:latin typeface="Arial"/>
                        </a:rPr>
                        <a:t>6 kernen</a:t>
                      </a:r>
                    </a:p>
                  </a:txBody>
                  <a:tcPr marT="36576" marB="36576"/>
                </a:tc>
              </a:tr>
              <a:tr h="329184">
                <a:tc>
                  <a:txBody>
                    <a:bodyPr wrap="square"/>
                    <a:lstStyle/>
                    <a:p>
                      <a:r>
                        <a:rPr sz="1500">
                          <a:latin typeface="Arial"/>
                        </a:rPr>
                        <a:t>RAM</a:t>
                      </a:r>
                    </a:p>
                  </a:txBody>
                  <a:tcPr marT="36576" marB="36576"/>
                </a:tc>
                <a:tc>
                  <a:txBody>
                    <a:bodyPr wrap="square"/>
                    <a:lstStyle/>
                    <a:p>
                      <a:r>
                        <a:rPr sz="1500">
                          <a:latin typeface="Arial"/>
                        </a:rPr>
                        <a:t>8 GB</a:t>
                      </a:r>
                    </a:p>
                  </a:txBody>
                  <a:tcPr marT="36576" marB="36576"/>
                </a:tc>
                <a:tc>
                  <a:txBody>
                    <a:bodyPr wrap="square"/>
                    <a:lstStyle/>
                    <a:p>
                      <a:r>
                        <a:rPr sz="1500">
                          <a:latin typeface="Arial"/>
                        </a:rPr>
                        <a:t>16 GB</a:t>
                      </a:r>
                    </a:p>
                  </a:txBody>
                  <a:tcPr marT="36576" marB="36576"/>
                </a:tc>
              </a:tr>
              <a:tr h="329184">
                <a:tc>
                  <a:txBody>
                    <a:bodyPr wrap="square"/>
                    <a:lstStyle/>
                    <a:p>
                      <a:r>
                        <a:rPr sz="1500">
                          <a:latin typeface="Arial"/>
                        </a:rPr>
                        <a:t>Grafische kaart</a:t>
                      </a:r>
                    </a:p>
                  </a:txBody>
                  <a:tcPr marT="36576" marB="36576"/>
                </a:tc>
                <a:tc>
                  <a:txBody>
                    <a:bodyPr wrap="square"/>
                    <a:lstStyle/>
                    <a:p>
                      <a:r>
                        <a:rPr sz="1500">
                          <a:latin typeface="Arial"/>
                        </a:rPr>
                        <a:t>4 GB VRAM</a:t>
                      </a:r>
                    </a:p>
                  </a:txBody>
                  <a:tcPr marT="36576" marB="36576"/>
                </a:tc>
                <a:tc>
                  <a:txBody>
                    <a:bodyPr wrap="square"/>
                    <a:lstStyle/>
                    <a:p>
                      <a:r>
                        <a:rPr sz="1500">
                          <a:latin typeface="Arial"/>
                        </a:rPr>
                        <a:t>8 GB VRAM</a:t>
                      </a:r>
                    </a:p>
                  </a:txBody>
                  <a:tcPr marT="36576" marB="36576"/>
                </a:tc>
              </a:tr>
              <a:tr h="329184">
                <a:tc>
                  <a:txBody>
                    <a:bodyPr wrap="square"/>
                    <a:lstStyle/>
                    <a:p>
                      <a:r>
                        <a:rPr sz="1500">
                          <a:latin typeface="Arial"/>
                        </a:rPr>
                        <a:t>Opslag</a:t>
                      </a:r>
                    </a:p>
                  </a:txBody>
                  <a:tcPr marT="36576" marB="36576"/>
                </a:tc>
                <a:tc>
                  <a:txBody>
                    <a:bodyPr wrap="square"/>
                    <a:lstStyle/>
                    <a:p>
                      <a:r>
                        <a:rPr sz="1500">
                          <a:latin typeface="Arial"/>
                        </a:rPr>
                        <a:t>50 GB vrij</a:t>
                      </a:r>
                    </a:p>
                  </a:txBody>
                  <a:tcPr marT="36576" marB="36576"/>
                </a:tc>
                <a:tc>
                  <a:txBody>
                    <a:bodyPr wrap="square"/>
                    <a:lstStyle/>
                    <a:p>
                      <a:r>
                        <a:rPr sz="1500">
                          <a:latin typeface="Arial"/>
                        </a:rPr>
                        <a:t>50 GB op SSD</a:t>
                      </a:r>
                    </a:p>
                  </a:txBody>
                  <a:tcPr marT="36576" marB="36576"/>
                </a:tc>
              </a:tr>
              <a:tr h="329184">
                <a:tc>
                  <a:txBody>
                    <a:bodyPr wrap="square"/>
                    <a:lstStyle/>
                    <a:p>
                      <a:r>
                        <a:rPr sz="1500">
                          <a:latin typeface="Arial"/>
                        </a:rPr>
                        <a:t>Windows</a:t>
                      </a:r>
                    </a:p>
                  </a:txBody>
                  <a:tcPr marT="36576" marB="36576"/>
                </a:tc>
                <a:tc>
                  <a:txBody>
                    <a:bodyPr wrap="square"/>
                    <a:lstStyle/>
                    <a:p>
                      <a:r>
                        <a:rPr sz="1500">
                          <a:latin typeface="Arial"/>
                        </a:rPr>
                        <a:t>10, 64-bit</a:t>
                      </a:r>
                    </a:p>
                  </a:txBody>
                  <a:tcPr marT="36576" marB="36576"/>
                </a:tc>
                <a:tc>
                  <a:txBody>
                    <a:bodyPr wrap="square"/>
                    <a:lstStyle/>
                    <a:p>
                      <a:r>
                        <a:rPr sz="1500">
                          <a:latin typeface="Arial"/>
                        </a:rPr>
                        <a:t>11</a:t>
                      </a:r>
                    </a:p>
                  </a:txBody>
                  <a:tcPr marT="36576" marB="36576"/>
                </a:tc>
              </a:tr>
            </a:tbl>
          </a:graphicData>
        </a:graphic>
      </p:graphicFrame>
      <p:sp>
        <p:nvSpPr>
          <p:cNvPr id="4" name="Rounded Rectangle 3"/>
          <p:cNvSpPr/>
          <p:nvPr/>
        </p:nvSpPr>
        <p:spPr>
          <a:xfrm>
            <a:off x="7589520" y="2103120"/>
            <a:ext cx="3767328"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Minimum</a:t>
            </a:r>
          </a:p>
          <a:p>
            <a:pPr algn="l"/>
            <a:r>
              <a:rPr sz="1600">
                <a:solidFill>
                  <a:srgbClr val="262626"/>
                </a:solidFill>
                <a:latin typeface="Arial"/>
              </a:rPr>
              <a:t>het programma start</a:t>
            </a:r>
          </a:p>
        </p:txBody>
      </p:sp>
      <p:sp>
        <p:nvSpPr>
          <p:cNvPr id="5" name="Rounded Rectangle 4"/>
          <p:cNvSpPr/>
          <p:nvPr/>
        </p:nvSpPr>
        <p:spPr>
          <a:xfrm>
            <a:off x="7589520" y="3154680"/>
            <a:ext cx="3767328"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Aanbevolen</a:t>
            </a:r>
          </a:p>
          <a:p>
            <a:pPr algn="l"/>
            <a:r>
              <a:rPr sz="1600">
                <a:solidFill>
                  <a:srgbClr val="262626"/>
                </a:solidFill>
                <a:latin typeface="Arial"/>
              </a:rPr>
              <a:t>het programma werkt vlot</a:t>
            </a:r>
          </a:p>
        </p:txBody>
      </p:sp>
      <p:sp>
        <p:nvSpPr>
          <p:cNvPr id="6" name="TextBox 5"/>
          <p:cNvSpPr txBox="1"/>
          <p:nvPr/>
        </p:nvSpPr>
        <p:spPr>
          <a:xfrm>
            <a:off x="7589520" y="4251960"/>
            <a:ext cx="3767328" cy="1463040"/>
          </a:xfrm>
          <a:prstGeom prst="rect">
            <a:avLst/>
          </a:prstGeom>
          <a:noFill/>
        </p:spPr>
        <p:txBody>
          <a:bodyPr wrap="square" lIns="0" rIns="0">
            <a:spAutoFit/>
          </a:bodyPr>
          <a:lstStyle/>
          <a:p>
            <a:r>
              <a:rPr sz="1600">
                <a:solidFill>
                  <a:srgbClr val="262626"/>
                </a:solidFill>
                <a:latin typeface="Arial"/>
              </a:rPr>
              <a:t>Jouw pc: Instellingen → Systeem → Info.</a:t>
            </a:r>
          </a:p>
          <a:p>
            <a:r>
              <a:rPr sz="1600">
                <a:solidFill>
                  <a:srgbClr val="262626"/>
                </a:solidFill>
                <a:latin typeface="Arial"/>
              </a:rPr>
              <a:t>Android: de Play Store filtert dit meestal zelf.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RAM vol: het wisselbestand</a:t>
            </a:r>
          </a:p>
        </p:txBody>
      </p:sp>
      <p:sp>
        <p:nvSpPr>
          <p:cNvPr id="3" name="Rounded Rectangle 2"/>
          <p:cNvSpPr/>
          <p:nvPr/>
        </p:nvSpPr>
        <p:spPr>
          <a:xfrm>
            <a:off x="841248" y="2194560"/>
            <a:ext cx="224028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2E9E46"/>
                </a:solidFill>
                <a:latin typeface="Arial"/>
              </a:rPr>
              <a:t>1 · Veel open</a:t>
            </a:r>
          </a:p>
          <a:p>
            <a:pPr algn="l"/>
            <a:r>
              <a:rPr sz="1500">
                <a:solidFill>
                  <a:srgbClr val="262626"/>
                </a:solidFill>
                <a:latin typeface="Arial"/>
              </a:rPr>
              <a:t>40 tabbladen, Teams, Word, een spel</a:t>
            </a:r>
          </a:p>
        </p:txBody>
      </p:sp>
      <p:sp>
        <p:nvSpPr>
          <p:cNvPr id="4" name="Right Arrow 3"/>
          <p:cNvSpPr/>
          <p:nvPr/>
        </p:nvSpPr>
        <p:spPr>
          <a:xfrm>
            <a:off x="3163824" y="2852928"/>
            <a:ext cx="320040" cy="274320"/>
          </a:xfrm>
          <a:prstGeom prst="rightArrow">
            <a:avLst/>
          </a:prstGeom>
          <a:solidFill>
            <a:srgbClr val="2E9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566160" y="2194560"/>
            <a:ext cx="224028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2E9E46"/>
                </a:solidFill>
                <a:latin typeface="Arial"/>
              </a:rPr>
              <a:t>2 · RAM vol</a:t>
            </a:r>
          </a:p>
          <a:p>
            <a:pPr algn="l"/>
            <a:r>
              <a:rPr sz="1500">
                <a:solidFill>
                  <a:srgbClr val="262626"/>
                </a:solidFill>
                <a:latin typeface="Arial"/>
              </a:rPr>
              <a:t>het werkblad ligt vol</a:t>
            </a:r>
          </a:p>
        </p:txBody>
      </p:sp>
      <p:sp>
        <p:nvSpPr>
          <p:cNvPr id="6" name="Right Arrow 5"/>
          <p:cNvSpPr/>
          <p:nvPr/>
        </p:nvSpPr>
        <p:spPr>
          <a:xfrm>
            <a:off x="5888736" y="2852928"/>
            <a:ext cx="320040" cy="274320"/>
          </a:xfrm>
          <a:prstGeom prst="rightArrow">
            <a:avLst/>
          </a:prstGeom>
          <a:solidFill>
            <a:srgbClr val="2E9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91072" y="2194560"/>
            <a:ext cx="224028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2E9E46"/>
                </a:solidFill>
                <a:latin typeface="Arial"/>
              </a:rPr>
              <a:t>3 · Wisselbestand</a:t>
            </a:r>
          </a:p>
          <a:p>
            <a:pPr algn="l"/>
            <a:r>
              <a:rPr sz="1500">
                <a:solidFill>
                  <a:srgbClr val="262626"/>
                </a:solidFill>
                <a:latin typeface="Arial"/>
              </a:rPr>
              <a:t>Windows legt stukken op de tragere schijf</a:t>
            </a:r>
          </a:p>
        </p:txBody>
      </p:sp>
      <p:sp>
        <p:nvSpPr>
          <p:cNvPr id="8" name="Right Arrow 7"/>
          <p:cNvSpPr/>
          <p:nvPr/>
        </p:nvSpPr>
        <p:spPr>
          <a:xfrm>
            <a:off x="8613648" y="2852928"/>
            <a:ext cx="320040" cy="274320"/>
          </a:xfrm>
          <a:prstGeom prst="rightArrow">
            <a:avLst/>
          </a:prstGeom>
          <a:solidFill>
            <a:srgbClr val="2E9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15984" y="2194560"/>
            <a:ext cx="2240280" cy="16002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FFFFFF"/>
                </a:solidFill>
                <a:latin typeface="Arial"/>
              </a:rPr>
              <a:t>4 · Alles hapert</a:t>
            </a:r>
          </a:p>
          <a:p>
            <a:pPr algn="l"/>
            <a:r>
              <a:rPr sz="1500">
                <a:solidFill>
                  <a:srgbClr val="FFFFFF"/>
                </a:solidFill>
                <a:latin typeface="Arial"/>
              </a:rPr>
              <a:t>steeds heen en weer naar de schijf</a:t>
            </a:r>
          </a:p>
        </p:txBody>
      </p:sp>
      <p:sp>
        <p:nvSpPr>
          <p:cNvPr id="10" name="TextBox 9"/>
          <p:cNvSpPr txBox="1"/>
          <p:nvPr/>
        </p:nvSpPr>
        <p:spPr>
          <a:xfrm>
            <a:off x="841248" y="4160520"/>
            <a:ext cx="10515600" cy="1371600"/>
          </a:xfrm>
          <a:prstGeom prst="rect">
            <a:avLst/>
          </a:prstGeom>
          <a:noFill/>
        </p:spPr>
        <p:txBody>
          <a:bodyPr wrap="square" lIns="0" rIns="0">
            <a:spAutoFit/>
          </a:bodyPr>
          <a:lstStyle/>
          <a:p>
            <a:r>
              <a:rPr sz="1800" b="1">
                <a:solidFill>
                  <a:srgbClr val="262626"/>
                </a:solidFill>
                <a:latin typeface="Arial"/>
              </a:rPr>
              <a:t>Oplossing: </a:t>
            </a:r>
            <a:r>
              <a:rPr sz="1800">
                <a:solidFill>
                  <a:srgbClr val="262626"/>
                </a:solidFill>
                <a:latin typeface="Arial"/>
              </a:rPr>
              <a:t>sluit onnodige programma's en tabbladen (taakbalk of Taakbeheer). Blijft het RAM vol bij gewoon werk? Dan is te weinig RAM of een te trage processor de oorzaak.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Taakbeheer → Processen: zoek de bottleneck</a:t>
            </a:r>
          </a:p>
        </p:txBody>
      </p:sp>
      <p:graphicFrame>
        <p:nvGraphicFramePr>
          <p:cNvPr id="3" name="Table 2"/>
          <p:cNvGraphicFramePr>
            <a:graphicFrameLocks noGrp="1"/>
          </p:cNvGraphicFramePr>
          <p:nvPr/>
        </p:nvGraphicFramePr>
        <p:xfrm>
          <a:off x="841248" y="2103120"/>
          <a:ext cx="10515600" cy="1645920"/>
        </p:xfrm>
        <a:graphic>
          <a:graphicData uri="http://schemas.openxmlformats.org/drawingml/2006/table">
            <a:tbl>
              <a:tblPr firstRow="1" bandRow="1">
                <a:tableStyleId>{5C22544A-7EE6-4342-B048-85BDC9FD1C3A}</a:tableStyleId>
              </a:tblPr>
              <a:tblGrid>
                <a:gridCol w="4023360"/>
                <a:gridCol w="1645920"/>
                <a:gridCol w="2011680"/>
                <a:gridCol w="1463040"/>
                <a:gridCol w="1371600"/>
              </a:tblGrid>
              <a:tr h="329184">
                <a:tc>
                  <a:txBody>
                    <a:bodyPr wrap="square"/>
                    <a:lstStyle/>
                    <a:p>
                      <a:r>
                        <a:rPr sz="1500">
                          <a:latin typeface="Arial"/>
                        </a:rPr>
                        <a:t>Naam</a:t>
                      </a:r>
                    </a:p>
                  </a:txBody>
                  <a:tcPr marT="36576" marB="36576"/>
                </a:tc>
                <a:tc>
                  <a:txBody>
                    <a:bodyPr wrap="square"/>
                    <a:lstStyle/>
                    <a:p>
                      <a:r>
                        <a:rPr sz="1500">
                          <a:latin typeface="Arial"/>
                        </a:rPr>
                        <a:t>CPU 23 %</a:t>
                      </a:r>
                    </a:p>
                  </a:txBody>
                  <a:tcPr marT="36576" marB="36576"/>
                </a:tc>
                <a:tc>
                  <a:txBody>
                    <a:bodyPr wrap="square"/>
                    <a:lstStyle/>
                    <a:p>
                      <a:r>
                        <a:rPr sz="1500">
                          <a:latin typeface="Arial"/>
                        </a:rPr>
                        <a:t>Geheugen 91 %</a:t>
                      </a:r>
                    </a:p>
                  </a:txBody>
                  <a:tcPr marT="36576" marB="36576"/>
                </a:tc>
                <a:tc>
                  <a:txBody>
                    <a:bodyPr wrap="square"/>
                    <a:lstStyle/>
                    <a:p>
                      <a:r>
                        <a:rPr sz="1500">
                          <a:latin typeface="Arial"/>
                        </a:rPr>
                        <a:t>Schijf 6 %</a:t>
                      </a:r>
                    </a:p>
                  </a:txBody>
                  <a:tcPr marT="36576" marB="36576"/>
                </a:tc>
                <a:tc>
                  <a:txBody>
                    <a:bodyPr wrap="square"/>
                    <a:lstStyle/>
                    <a:p>
                      <a:r>
                        <a:rPr sz="1500">
                          <a:latin typeface="Arial"/>
                        </a:rPr>
                        <a:t>GPU 4 %</a:t>
                      </a:r>
                    </a:p>
                  </a:txBody>
                  <a:tcPr marT="36576" marB="36576"/>
                </a:tc>
              </a:tr>
              <a:tr h="329184">
                <a:tc>
                  <a:txBody>
                    <a:bodyPr wrap="square"/>
                    <a:lstStyle/>
                    <a:p>
                      <a:r>
                        <a:rPr sz="1500">
                          <a:latin typeface="Arial"/>
                        </a:rPr>
                        <a:t>Google Chrome (34)</a:t>
                      </a:r>
                    </a:p>
                  </a:txBody>
                  <a:tcPr marT="36576" marB="36576"/>
                </a:tc>
                <a:tc>
                  <a:txBody>
                    <a:bodyPr wrap="square"/>
                    <a:lstStyle/>
                    <a:p>
                      <a:r>
                        <a:rPr sz="1500">
                          <a:latin typeface="Arial"/>
                        </a:rPr>
                        <a:t>9 %</a:t>
                      </a:r>
                    </a:p>
                  </a:txBody>
                  <a:tcPr marT="36576" marB="36576"/>
                </a:tc>
                <a:tc>
                  <a:txBody>
                    <a:bodyPr wrap="square"/>
                    <a:lstStyle/>
                    <a:p>
                      <a:r>
                        <a:rPr sz="1500" b="1">
                          <a:solidFill>
                            <a:srgbClr val="2E9E46"/>
                          </a:solidFill>
                          <a:latin typeface="Arial"/>
                        </a:rPr>
                        <a:t>3 214 MB</a:t>
                      </a:r>
                    </a:p>
                  </a:txBody>
                  <a:tcPr marT="36576" marB="36576"/>
                </a:tc>
                <a:tc>
                  <a:txBody>
                    <a:bodyPr wrap="square"/>
                    <a:lstStyle/>
                    <a:p>
                      <a:r>
                        <a:rPr sz="1500">
                          <a:latin typeface="Arial"/>
                        </a:rPr>
                        <a:t>0,4 MB/s</a:t>
                      </a:r>
                    </a:p>
                  </a:txBody>
                  <a:tcPr marT="36576" marB="36576"/>
                </a:tc>
                <a:tc>
                  <a:txBody>
                    <a:bodyPr wrap="square"/>
                    <a:lstStyle/>
                    <a:p>
                      <a:r>
                        <a:rPr sz="1500">
                          <a:latin typeface="Arial"/>
                        </a:rPr>
                        <a:t>1 %</a:t>
                      </a:r>
                    </a:p>
                  </a:txBody>
                  <a:tcPr marT="36576" marB="36576"/>
                </a:tc>
              </a:tr>
              <a:tr h="329184">
                <a:tc>
                  <a:txBody>
                    <a:bodyPr wrap="square"/>
                    <a:lstStyle/>
                    <a:p>
                      <a:r>
                        <a:rPr sz="1500">
                          <a:latin typeface="Arial"/>
                        </a:rPr>
                        <a:t>Microsoft Teams</a:t>
                      </a:r>
                    </a:p>
                  </a:txBody>
                  <a:tcPr marT="36576" marB="36576"/>
                </a:tc>
                <a:tc>
                  <a:txBody>
                    <a:bodyPr wrap="square"/>
                    <a:lstStyle/>
                    <a:p>
                      <a:r>
                        <a:rPr sz="1500">
                          <a:latin typeface="Arial"/>
                        </a:rPr>
                        <a:t>6 %</a:t>
                      </a:r>
                    </a:p>
                  </a:txBody>
                  <a:tcPr marT="36576" marB="36576"/>
                </a:tc>
                <a:tc>
                  <a:txBody>
                    <a:bodyPr wrap="square"/>
                    <a:lstStyle/>
                    <a:p>
                      <a:r>
                        <a:rPr sz="1500" b="1">
                          <a:solidFill>
                            <a:srgbClr val="2E9E46"/>
                          </a:solidFill>
                          <a:latin typeface="Arial"/>
                        </a:rPr>
                        <a:t>1 105 MB</a:t>
                      </a:r>
                    </a:p>
                  </a:txBody>
                  <a:tcPr marT="36576" marB="36576"/>
                </a:tc>
                <a:tc>
                  <a:txBody>
                    <a:bodyPr wrap="square"/>
                    <a:lstStyle/>
                    <a:p>
                      <a:r>
                        <a:rPr sz="1500">
                          <a:latin typeface="Arial"/>
                        </a:rPr>
                        <a:t>0,1 MB/s</a:t>
                      </a:r>
                    </a:p>
                  </a:txBody>
                  <a:tcPr marT="36576" marB="36576"/>
                </a:tc>
                <a:tc>
                  <a:txBody>
                    <a:bodyPr wrap="square"/>
                    <a:lstStyle/>
                    <a:p>
                      <a:r>
                        <a:rPr sz="1500">
                          <a:latin typeface="Arial"/>
                        </a:rPr>
                        <a:t>2 %</a:t>
                      </a:r>
                    </a:p>
                  </a:txBody>
                  <a:tcPr marT="36576" marB="36576"/>
                </a:tc>
              </a:tr>
              <a:tr h="329184">
                <a:tc>
                  <a:txBody>
                    <a:bodyPr wrap="square"/>
                    <a:lstStyle/>
                    <a:p>
                      <a:r>
                        <a:rPr sz="1500">
                          <a:latin typeface="Arial"/>
                        </a:rPr>
                        <a:t>Microsoft Word</a:t>
                      </a:r>
                    </a:p>
                  </a:txBody>
                  <a:tcPr marT="36576" marB="36576"/>
                </a:tc>
                <a:tc>
                  <a:txBody>
                    <a:bodyPr wrap="square"/>
                    <a:lstStyle/>
                    <a:p>
                      <a:r>
                        <a:rPr sz="1500">
                          <a:latin typeface="Arial"/>
                        </a:rPr>
                        <a:t>1 %</a:t>
                      </a:r>
                    </a:p>
                  </a:txBody>
                  <a:tcPr marT="36576" marB="36576"/>
                </a:tc>
                <a:tc>
                  <a:txBody>
                    <a:bodyPr wrap="square"/>
                    <a:lstStyle/>
                    <a:p>
                      <a:r>
                        <a:rPr sz="1500">
                          <a:latin typeface="Arial"/>
                        </a:rPr>
                        <a:t>312 MB</a:t>
                      </a:r>
                    </a:p>
                  </a:txBody>
                  <a:tcPr marT="36576" marB="36576"/>
                </a:tc>
                <a:tc>
                  <a:txBody>
                    <a:bodyPr wrap="square"/>
                    <a:lstStyle/>
                    <a:p>
                      <a:r>
                        <a:rPr sz="1500">
                          <a:latin typeface="Arial"/>
                        </a:rPr>
                        <a:t>0 MB/s</a:t>
                      </a:r>
                    </a:p>
                  </a:txBody>
                  <a:tcPr marT="36576" marB="36576"/>
                </a:tc>
                <a:tc>
                  <a:txBody>
                    <a:bodyPr wrap="square"/>
                    <a:lstStyle/>
                    <a:p>
                      <a:r>
                        <a:rPr sz="1500">
                          <a:latin typeface="Arial"/>
                        </a:rPr>
                        <a:t>0 %</a:t>
                      </a:r>
                    </a:p>
                  </a:txBody>
                  <a:tcPr marT="36576" marB="36576"/>
                </a:tc>
              </a:tr>
              <a:tr h="329184">
                <a:tc>
                  <a:txBody>
                    <a:bodyPr wrap="square"/>
                    <a:lstStyle/>
                    <a:p>
                      <a:r>
                        <a:rPr sz="1500">
                          <a:latin typeface="Arial"/>
                        </a:rPr>
                        <a:t>Antimalware Service Executable</a:t>
                      </a:r>
                    </a:p>
                  </a:txBody>
                  <a:tcPr marT="36576" marB="36576"/>
                </a:tc>
                <a:tc>
                  <a:txBody>
                    <a:bodyPr wrap="square"/>
                    <a:lstStyle/>
                    <a:p>
                      <a:r>
                        <a:rPr sz="1500">
                          <a:latin typeface="Arial"/>
                        </a:rPr>
                        <a:t>4 %</a:t>
                      </a:r>
                    </a:p>
                  </a:txBody>
                  <a:tcPr marT="36576" marB="36576"/>
                </a:tc>
                <a:tc>
                  <a:txBody>
                    <a:bodyPr wrap="square"/>
                    <a:lstStyle/>
                    <a:p>
                      <a:r>
                        <a:rPr sz="1500">
                          <a:latin typeface="Arial"/>
                        </a:rPr>
                        <a:t>198 MB</a:t>
                      </a:r>
                    </a:p>
                  </a:txBody>
                  <a:tcPr marT="36576" marB="36576"/>
                </a:tc>
                <a:tc>
                  <a:txBody>
                    <a:bodyPr wrap="square"/>
                    <a:lstStyle/>
                    <a:p>
                      <a:r>
                        <a:rPr sz="1500">
                          <a:latin typeface="Arial"/>
                        </a:rPr>
                        <a:t>2,1 MB/s</a:t>
                      </a:r>
                    </a:p>
                  </a:txBody>
                  <a:tcPr marT="36576" marB="36576"/>
                </a:tc>
                <a:tc>
                  <a:txBody>
                    <a:bodyPr wrap="square"/>
                    <a:lstStyle/>
                    <a:p>
                      <a:r>
                        <a:rPr sz="1500">
                          <a:latin typeface="Arial"/>
                        </a:rPr>
                        <a:t>0 %</a:t>
                      </a:r>
                    </a:p>
                  </a:txBody>
                  <a:tcPr marT="36576" marB="36576"/>
                </a:tc>
              </a:tr>
            </a:tbl>
          </a:graphicData>
        </a:graphic>
      </p:graphicFrame>
      <p:sp>
        <p:nvSpPr>
          <p:cNvPr id="4" name="Rounded Rectangle 3"/>
          <p:cNvSpPr/>
          <p:nvPr/>
        </p:nvSpPr>
        <p:spPr>
          <a:xfrm>
            <a:off x="841248" y="4160520"/>
            <a:ext cx="3328416" cy="9144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600">
                <a:solidFill>
                  <a:srgbClr val="FFFFFF"/>
                </a:solidFill>
                <a:latin typeface="Arial"/>
              </a:rPr>
              <a:t>1 · Lees eerst de totalen bovenaan</a:t>
            </a:r>
          </a:p>
        </p:txBody>
      </p:sp>
      <p:sp>
        <p:nvSpPr>
          <p:cNvPr id="5" name="Rounded Rectangle 4"/>
          <p:cNvSpPr/>
          <p:nvPr/>
        </p:nvSpPr>
        <p:spPr>
          <a:xfrm>
            <a:off x="4434840" y="4160520"/>
            <a:ext cx="3328416" cy="9144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600">
                <a:solidFill>
                  <a:srgbClr val="FFFFFF"/>
                </a:solidFill>
                <a:latin typeface="Arial"/>
              </a:rPr>
              <a:t>2 · Bijna 100 %? Dat is de bottleneck</a:t>
            </a:r>
          </a:p>
        </p:txBody>
      </p:sp>
      <p:sp>
        <p:nvSpPr>
          <p:cNvPr id="6" name="Rounded Rectangle 5"/>
          <p:cNvSpPr/>
          <p:nvPr/>
        </p:nvSpPr>
        <p:spPr>
          <a:xfrm>
            <a:off x="8028432" y="4160520"/>
            <a:ext cx="3328416" cy="9144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600">
                <a:solidFill>
                  <a:srgbClr val="FFFFFF"/>
                </a:solidFill>
                <a:latin typeface="Arial"/>
              </a:rPr>
              <a:t>3 · Zoek in die kolom het grootste getal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Prestaties: wat is het zwakste onderdeel?</a:t>
            </a:r>
          </a:p>
        </p:txBody>
      </p:sp>
      <p:sp>
        <p:nvSpPr>
          <p:cNvPr id="3" name="Rounded Rectangle 2"/>
          <p:cNvSpPr/>
          <p:nvPr/>
        </p:nvSpPr>
        <p:spPr>
          <a:xfrm>
            <a:off x="841248" y="2194560"/>
            <a:ext cx="516636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2E9E46"/>
                </a:solidFill>
                <a:latin typeface="Arial"/>
              </a:rPr>
              <a:t>CPU</a:t>
            </a:r>
          </a:p>
          <a:p>
            <a:pPr algn="l"/>
            <a:r>
              <a:rPr sz="1700">
                <a:solidFill>
                  <a:srgbClr val="262626"/>
                </a:solidFill>
                <a:latin typeface="Arial"/>
              </a:rPr>
              <a:t>Bij surfen of Word vaak boven 90 %? Processor te zwak.</a:t>
            </a:r>
          </a:p>
        </p:txBody>
      </p:sp>
      <p:sp>
        <p:nvSpPr>
          <p:cNvPr id="4" name="Rounded Rectangle 3"/>
          <p:cNvSpPr/>
          <p:nvPr/>
        </p:nvSpPr>
        <p:spPr>
          <a:xfrm>
            <a:off x="6190488" y="2194560"/>
            <a:ext cx="516636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2E9E46"/>
                </a:solidFill>
                <a:latin typeface="Arial"/>
              </a:rPr>
              <a:t>Geheugen</a:t>
            </a:r>
          </a:p>
          <a:p>
            <a:pPr algn="l"/>
            <a:r>
              <a:rPr sz="1700">
                <a:solidFill>
                  <a:srgbClr val="262626"/>
                </a:solidFill>
                <a:latin typeface="Arial"/>
              </a:rPr>
              <a:t>Bij gewoon werk bijna vol? Te weinig RAM.</a:t>
            </a:r>
          </a:p>
        </p:txBody>
      </p:sp>
      <p:sp>
        <p:nvSpPr>
          <p:cNvPr id="5" name="Rounded Rectangle 4"/>
          <p:cNvSpPr/>
          <p:nvPr/>
        </p:nvSpPr>
        <p:spPr>
          <a:xfrm>
            <a:off x="841248" y="3977639"/>
            <a:ext cx="516636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2E9E46"/>
                </a:solidFill>
                <a:latin typeface="Arial"/>
              </a:rPr>
              <a:t>Schijf 0</a:t>
            </a:r>
          </a:p>
          <a:p>
            <a:pPr algn="l"/>
            <a:r>
              <a:rPr sz="1700">
                <a:solidFill>
                  <a:srgbClr val="262626"/>
                </a:solidFill>
                <a:latin typeface="Arial"/>
              </a:rPr>
              <a:t>Staat er HDD en zit hij vaak op 100 %? Dat is de rem.</a:t>
            </a:r>
          </a:p>
        </p:txBody>
      </p:sp>
      <p:sp>
        <p:nvSpPr>
          <p:cNvPr id="6" name="Rounded Rectangle 5"/>
          <p:cNvSpPr/>
          <p:nvPr/>
        </p:nvSpPr>
        <p:spPr>
          <a:xfrm>
            <a:off x="6190488" y="3977639"/>
            <a:ext cx="516636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2E9E46"/>
                </a:solidFill>
                <a:latin typeface="Arial"/>
              </a:rPr>
              <a:t>GPU</a:t>
            </a:r>
          </a:p>
          <a:p>
            <a:pPr algn="l"/>
            <a:r>
              <a:rPr sz="1700">
                <a:solidFill>
                  <a:srgbClr val="262626"/>
                </a:solidFill>
                <a:latin typeface="Arial"/>
              </a:rPr>
              <a:t>Op 100 % bij je spel of video? Grafische kaart te zwak.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Upgraden of vervangen?</a:t>
            </a:r>
          </a:p>
        </p:txBody>
      </p:sp>
      <p:graphicFrame>
        <p:nvGraphicFramePr>
          <p:cNvPr id="3" name="Table 2"/>
          <p:cNvGraphicFramePr>
            <a:graphicFrameLocks noGrp="1"/>
          </p:cNvGraphicFramePr>
          <p:nvPr/>
        </p:nvGraphicFramePr>
        <p:xfrm>
          <a:off x="841248" y="2103120"/>
          <a:ext cx="10515600" cy="1975104"/>
        </p:xfrm>
        <a:graphic>
          <a:graphicData uri="http://schemas.openxmlformats.org/drawingml/2006/table">
            <a:tbl>
              <a:tblPr firstRow="1" bandRow="1">
                <a:tableStyleId>{5C22544A-7EE6-4342-B048-85BDC9FD1C3A}</a:tableStyleId>
              </a:tblPr>
              <a:tblGrid>
                <a:gridCol w="4754880"/>
                <a:gridCol w="5760720"/>
              </a:tblGrid>
              <a:tr h="329184">
                <a:tc>
                  <a:txBody>
                    <a:bodyPr wrap="square"/>
                    <a:lstStyle/>
                    <a:p>
                      <a:r>
                        <a:rPr sz="1600">
                          <a:latin typeface="Arial"/>
                        </a:rPr>
                        <a:t>Wat je ziet</a:t>
                      </a:r>
                    </a:p>
                  </a:txBody>
                  <a:tcPr marT="36576" marB="36576"/>
                </a:tc>
                <a:tc>
                  <a:txBody>
                    <a:bodyPr wrap="square"/>
                    <a:lstStyle/>
                    <a:p>
                      <a:r>
                        <a:rPr sz="1600">
                          <a:latin typeface="Arial"/>
                        </a:rPr>
                        <a:t>Beste oplossing</a:t>
                      </a:r>
                    </a:p>
                  </a:txBody>
                  <a:tcPr marT="36576" marB="36576"/>
                </a:tc>
              </a:tr>
              <a:tr h="329184">
                <a:tc>
                  <a:txBody>
                    <a:bodyPr wrap="square"/>
                    <a:lstStyle/>
                    <a:p>
                      <a:r>
                        <a:rPr sz="1600">
                          <a:latin typeface="Arial"/>
                        </a:rPr>
                        <a:t>HDD, schijf vaak op 100 %</a:t>
                      </a:r>
                    </a:p>
                  </a:txBody>
                  <a:tcPr marT="36576" marB="36576"/>
                </a:tc>
                <a:tc>
                  <a:txBody>
                    <a:bodyPr wrap="square"/>
                    <a:lstStyle/>
                    <a:p>
                      <a:r>
                        <a:rPr sz="1600" b="1">
                          <a:latin typeface="Arial"/>
                        </a:rPr>
                        <a:t>SSD</a:t>
                      </a:r>
                      <a:r>
                        <a:rPr sz="1600">
                          <a:latin typeface="Arial"/>
                        </a:rPr>
                        <a:t> plaatsen: grootste winst per euro</a:t>
                      </a:r>
                    </a:p>
                  </a:txBody>
                  <a:tcPr marT="36576" marB="36576"/>
                </a:tc>
              </a:tr>
              <a:tr h="329184">
                <a:tc>
                  <a:txBody>
                    <a:bodyPr wrap="square"/>
                    <a:lstStyle/>
                    <a:p>
                      <a:r>
                        <a:rPr sz="1600">
                          <a:latin typeface="Arial"/>
                        </a:rPr>
                        <a:t>4 GB RAM, altijd bijna vol</a:t>
                      </a:r>
                    </a:p>
                  </a:txBody>
                  <a:tcPr marT="36576" marB="36576"/>
                </a:tc>
                <a:tc>
                  <a:txBody>
                    <a:bodyPr wrap="square"/>
                    <a:lstStyle/>
                    <a:p>
                      <a:r>
                        <a:rPr sz="1600" b="1">
                          <a:latin typeface="Arial"/>
                        </a:rPr>
                        <a:t>RAM bijsteken</a:t>
                      </a:r>
                      <a:r>
                        <a:rPr sz="1600">
                          <a:latin typeface="Arial"/>
                        </a:rPr>
                        <a:t> naar 8 of 16 GB</a:t>
                      </a:r>
                    </a:p>
                  </a:txBody>
                  <a:tcPr marT="36576" marB="36576"/>
                </a:tc>
              </a:tr>
              <a:tr h="329184">
                <a:tc>
                  <a:txBody>
                    <a:bodyPr wrap="square"/>
                    <a:lstStyle/>
                    <a:p>
                      <a:r>
                        <a:rPr sz="1600">
                          <a:latin typeface="Arial"/>
                        </a:rPr>
                        <a:t>GPU op 100 % in je spel</a:t>
                      </a:r>
                    </a:p>
                  </a:txBody>
                  <a:tcPr marT="36576" marB="36576"/>
                </a:tc>
                <a:tc>
                  <a:txBody>
                    <a:bodyPr wrap="square"/>
                    <a:lstStyle/>
                    <a:p>
                      <a:r>
                        <a:rPr sz="1600">
                          <a:latin typeface="Arial"/>
                        </a:rPr>
                        <a:t>lagere instellingen of </a:t>
                      </a:r>
                      <a:r>
                        <a:rPr sz="1600" b="1">
                          <a:latin typeface="Arial"/>
                        </a:rPr>
                        <a:t>betere grafische kaart</a:t>
                      </a:r>
                    </a:p>
                  </a:txBody>
                  <a:tcPr marT="36576" marB="36576"/>
                </a:tc>
              </a:tr>
              <a:tr h="329184">
                <a:tc>
                  <a:txBody>
                    <a:bodyPr wrap="square"/>
                    <a:lstStyle/>
                    <a:p>
                      <a:r>
                        <a:rPr sz="1600">
                          <a:latin typeface="Arial"/>
                        </a:rPr>
                        <a:t>Windows 10: geen gratis updates sinds 14/10/2025</a:t>
                      </a:r>
                    </a:p>
                  </a:txBody>
                  <a:tcPr marT="36576" marB="36576"/>
                </a:tc>
                <a:tc>
                  <a:txBody>
                    <a:bodyPr wrap="square"/>
                    <a:lstStyle/>
                    <a:p>
                      <a:r>
                        <a:rPr sz="1600">
                          <a:latin typeface="Arial"/>
                        </a:rPr>
                        <a:t>overstappen naar </a:t>
                      </a:r>
                      <a:r>
                        <a:rPr sz="1600" b="1">
                          <a:latin typeface="Arial"/>
                        </a:rPr>
                        <a:t>Windows 11</a:t>
                      </a:r>
                      <a:r>
                        <a:rPr sz="1600">
                          <a:latin typeface="Arial"/>
                        </a:rPr>
                        <a:t> (vraagt o.a. TPM 2.0)</a:t>
                      </a:r>
                    </a:p>
                  </a:txBody>
                  <a:tcPr marT="36576" marB="36576"/>
                </a:tc>
              </a:tr>
              <a:tr h="329184">
                <a:tc>
                  <a:txBody>
                    <a:bodyPr wrap="square"/>
                    <a:lstStyle/>
                    <a:p>
                      <a:r>
                        <a:rPr sz="1600">
                          <a:latin typeface="Arial"/>
                        </a:rPr>
                        <a:t>Alles oud, CPU op 100 % bij YouTube</a:t>
                      </a:r>
                    </a:p>
                  </a:txBody>
                  <a:tcPr marT="36576" marB="36576"/>
                </a:tc>
                <a:tc>
                  <a:txBody>
                    <a:bodyPr wrap="square"/>
                    <a:lstStyle/>
                    <a:p>
                      <a:r>
                        <a:rPr sz="1600" b="1">
                          <a:latin typeface="Arial"/>
                        </a:rPr>
                        <a:t>nieuwe pc</a:t>
                      </a:r>
                      <a:r>
                        <a:rPr sz="1600">
                          <a:latin typeface="Arial"/>
                        </a:rPr>
                        <a:t> overwegen</a:t>
                      </a:r>
                    </a:p>
                  </a:txBody>
                  <a:tcPr marT="36576" marB="36576"/>
                </a:tc>
              </a:tr>
            </a:tbl>
          </a:graphicData>
        </a:graphic>
      </p:graphicFrame>
      <p:sp>
        <p:nvSpPr>
          <p:cNvPr id="4" name="TextBox 3"/>
          <p:cNvSpPr txBox="1"/>
          <p:nvPr/>
        </p:nvSpPr>
        <p:spPr>
          <a:xfrm>
            <a:off x="841248" y="4572000"/>
            <a:ext cx="10515600" cy="914400"/>
          </a:xfrm>
          <a:prstGeom prst="rect">
            <a:avLst/>
          </a:prstGeom>
          <a:noFill/>
        </p:spPr>
        <p:txBody>
          <a:bodyPr wrap="square" lIns="0" rIns="0">
            <a:spAutoFit/>
          </a:bodyPr>
          <a:lstStyle/>
          <a:p>
            <a:r>
              <a:rPr sz="1800">
                <a:solidFill>
                  <a:srgbClr val="262626"/>
                </a:solidFill>
                <a:latin typeface="Arial"/>
              </a:rPr>
              <a:t>Een oude processor vervangen lukt zelden: hij moet passen op het moederbord.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wrap="square"/>
          <a:lstStyle/>
          <a:p>
            <a:r>
              <a:rPr sz="2000">
                <a:latin typeface="Arial"/>
              </a:rPr>
              <a:t>H1 · vragen 1–7: oorzaken en analysetools</a:t>
            </a:r>
          </a:p>
          <a:p>
            <a:r>
              <a:rPr sz="2000">
                <a:latin typeface="Arial"/>
              </a:rPr>
              <a:t>H2 · vragen 8–15: opstartprogramma's, apps en extensies</a:t>
            </a:r>
          </a:p>
          <a:p>
            <a:r>
              <a:rPr sz="2000">
                <a:latin typeface="Arial"/>
              </a:rPr>
              <a:t>H3 · vragen 16–23: systeemvereisten en Taakbeheer lezen</a:t>
            </a:r>
          </a:p>
          <a:p>
            <a:r>
              <a:rPr sz="2000">
                <a:latin typeface="Arial"/>
              </a:rPr>
              <a:t>H4 · vragen 24–28: verouderde pc, wat is jouw advies?</a:t>
            </a:r>
          </a:p>
          <a:p>
            <a:r>
              <a:rPr sz="2000">
                <a:solidFill>
                  <a:srgbClr val="2E9E46"/>
                </a:solidFill>
                <a:latin typeface="Arial"/>
              </a:rPr>
              <a:t>Op je eigen pc: Taakbeheer, Betrouwbaarheidsgeschiedenis en Instellingen.</a:t>
            </a:r>
          </a:p>
        </p:txBody>
      </p:sp>
      <p:sp>
        <p:nvSpPr>
          <p:cNvPr id="3" name="Text Placeholder 2"/>
          <p:cNvSpPr>
            <a:spLocks noGrp="1"/>
          </p:cNvSpPr>
          <p:nvPr>
            <p:ph type="body" idx="1"/>
          </p:nvPr>
        </p:nvSpPr>
        <p:spPr/>
        <p:txBody>
          <a:bodyPr/>
          <a:lstStyle/>
          <a:p>
            <a:r>
              <a:t>Vragen 1–28 · 25 minuten · daarna pauze</a:t>
            </a:r>
          </a:p>
        </p:txBody>
      </p:sp>
      <p:sp>
        <p:nvSpPr>
          <p:cNvPr id="4" name="Title 3"/>
          <p:cNvSpPr>
            <a:spLocks noGrp="1"/>
          </p:cNvSpPr>
          <p:nvPr>
            <p:ph type="title"/>
          </p:nvPr>
        </p:nvSpPr>
        <p:spPr/>
        <p:txBody>
          <a:bodyPr/>
          <a:lstStyle/>
          <a:p>
            <a:r>
              <a:t>Werkblad deel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Pauze</a:t>
            </a:r>
          </a:p>
        </p:txBody>
      </p:sp>
      <p:sp>
        <p:nvSpPr>
          <p:cNvPr id="3" name="Subtitle 2"/>
          <p:cNvSpPr>
            <a:spLocks noGrp="1"/>
          </p:cNvSpPr>
          <p:nvPr>
            <p:ph type="subTitle" idx="1"/>
          </p:nvPr>
        </p:nvSpPr>
        <p:spPr/>
        <p:txBody>
          <a:bodyPr/>
          <a:lstStyle/>
          <a:p>
            <a:r>
              <a:t>15 minuten · 10:20 – 10:35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Updates: vier plaatsen om te controleren</a:t>
            </a:r>
          </a:p>
        </p:txBody>
      </p:sp>
      <p:graphicFrame>
        <p:nvGraphicFramePr>
          <p:cNvPr id="3" name="Table 2"/>
          <p:cNvGraphicFramePr>
            <a:graphicFrameLocks noGrp="1"/>
          </p:cNvGraphicFramePr>
          <p:nvPr/>
        </p:nvGraphicFramePr>
        <p:xfrm>
          <a:off x="841248" y="2103120"/>
          <a:ext cx="10515600" cy="1645920"/>
        </p:xfrm>
        <a:graphic>
          <a:graphicData uri="http://schemas.openxmlformats.org/drawingml/2006/table">
            <a:tbl>
              <a:tblPr firstRow="1" bandRow="1">
                <a:tableStyleId>{5C22544A-7EE6-4342-B048-85BDC9FD1C3A}</a:tableStyleId>
              </a:tblPr>
              <a:tblGrid>
                <a:gridCol w="3291840"/>
                <a:gridCol w="7223760"/>
              </a:tblGrid>
              <a:tr h="329184">
                <a:tc>
                  <a:txBody>
                    <a:bodyPr wrap="square"/>
                    <a:lstStyle/>
                    <a:p>
                      <a:r>
                        <a:rPr sz="1600">
                          <a:latin typeface="Arial"/>
                        </a:rPr>
                        <a:t>Wat</a:t>
                      </a:r>
                    </a:p>
                  </a:txBody>
                  <a:tcPr marT="36576" marB="36576"/>
                </a:tc>
                <a:tc>
                  <a:txBody>
                    <a:bodyPr wrap="square"/>
                    <a:lstStyle/>
                    <a:p>
                      <a:r>
                        <a:rPr sz="1600">
                          <a:latin typeface="Arial"/>
                        </a:rPr>
                        <a:t>Waar</a:t>
                      </a:r>
                    </a:p>
                  </a:txBody>
                  <a:tcPr marT="36576" marB="36576"/>
                </a:tc>
              </a:tr>
              <a:tr h="329184">
                <a:tc>
                  <a:txBody>
                    <a:bodyPr wrap="square"/>
                    <a:lstStyle/>
                    <a:p>
                      <a:r>
                        <a:rPr sz="1600">
                          <a:latin typeface="Arial"/>
                        </a:rPr>
                        <a:t>Staan er updates klaar?</a:t>
                      </a:r>
                    </a:p>
                  </a:txBody>
                  <a:tcPr marT="36576" marB="36576"/>
                </a:tc>
                <a:tc>
                  <a:txBody>
                    <a:bodyPr wrap="square"/>
                    <a:lstStyle/>
                    <a:p>
                      <a:r>
                        <a:rPr sz="1600">
                          <a:latin typeface="Arial"/>
                        </a:rPr>
                        <a:t>Instellingen → Windows Update → </a:t>
                      </a:r>
                      <a:r>
                        <a:rPr sz="1600" b="1">
                          <a:latin typeface="Arial"/>
                        </a:rPr>
                        <a:t>Naar updates zoeken</a:t>
                      </a:r>
                    </a:p>
                  </a:txBody>
                  <a:tcPr marT="36576" marB="36576"/>
                </a:tc>
              </a:tr>
              <a:tr h="329184">
                <a:tc>
                  <a:txBody>
                    <a:bodyPr wrap="square"/>
                    <a:lstStyle/>
                    <a:p>
                      <a:r>
                        <a:rPr sz="1600">
                          <a:latin typeface="Arial"/>
                        </a:rPr>
                        <a:t>Ging er iets mis?</a:t>
                      </a:r>
                    </a:p>
                  </a:txBody>
                  <a:tcPr marT="36576" marB="36576"/>
                </a:tc>
                <a:tc>
                  <a:txBody>
                    <a:bodyPr wrap="square"/>
                    <a:lstStyle/>
                    <a:p>
                      <a:r>
                        <a:rPr sz="1600">
                          <a:latin typeface="Arial"/>
                        </a:rPr>
                        <a:t>Windows Update → </a:t>
                      </a:r>
                      <a:r>
                        <a:rPr sz="1600" b="1">
                          <a:latin typeface="Arial"/>
                        </a:rPr>
                        <a:t>Updategeschiedenis</a:t>
                      </a:r>
                      <a:r>
                        <a:rPr sz="1600">
                          <a:latin typeface="Arial"/>
                        </a:rPr>
                        <a:t> (ook updates verwijderen)</a:t>
                      </a:r>
                    </a:p>
                  </a:txBody>
                  <a:tcPr marT="36576" marB="36576"/>
                </a:tc>
              </a:tr>
              <a:tr h="329184">
                <a:tc>
                  <a:txBody>
                    <a:bodyPr wrap="square"/>
                    <a:lstStyle/>
                    <a:p>
                      <a:r>
                        <a:rPr sz="1600">
                          <a:latin typeface="Arial"/>
                        </a:rPr>
                        <a:t>Office mee bijwerken</a:t>
                      </a:r>
                    </a:p>
                  </a:txBody>
                  <a:tcPr marT="36576" marB="36576"/>
                </a:tc>
                <a:tc>
                  <a:txBody>
                    <a:bodyPr wrap="square"/>
                    <a:lstStyle/>
                    <a:p>
                      <a:r>
                        <a:rPr sz="1600">
                          <a:latin typeface="Arial"/>
                        </a:rPr>
                        <a:t>Geavanceerde opties → </a:t>
                      </a:r>
                      <a:r>
                        <a:rPr sz="1600" b="1">
                          <a:latin typeface="Arial"/>
                        </a:rPr>
                        <a:t>Updates voor andere Microsoft-producten</a:t>
                      </a:r>
                    </a:p>
                  </a:txBody>
                  <a:tcPr marT="36576" marB="36576"/>
                </a:tc>
              </a:tr>
              <a:tr h="329184">
                <a:tc>
                  <a:txBody>
                    <a:bodyPr wrap="square"/>
                    <a:lstStyle/>
                    <a:p>
                      <a:r>
                        <a:rPr sz="1600">
                          <a:latin typeface="Arial"/>
                        </a:rPr>
                        <a:t>Andere programma's</a:t>
                      </a:r>
                    </a:p>
                  </a:txBody>
                  <a:tcPr marT="36576" marB="36576"/>
                </a:tc>
                <a:tc>
                  <a:txBody>
                    <a:bodyPr wrap="square"/>
                    <a:lstStyle/>
                    <a:p>
                      <a:r>
                        <a:rPr sz="1600" b="1">
                          <a:latin typeface="Arial"/>
                        </a:rPr>
                        <a:t>software-updater</a:t>
                      </a:r>
                      <a:r>
                        <a:rPr sz="1600">
                          <a:latin typeface="Arial"/>
                        </a:rPr>
                        <a:t>, bv. winget upgrade --all of Patch My PC</a:t>
                      </a:r>
                    </a:p>
                  </a:txBody>
                  <a:tcPr marT="36576" marB="36576"/>
                </a:tc>
              </a:tr>
            </a:tbl>
          </a:graphicData>
        </a:graphic>
      </p:graphicFrame>
      <p:sp>
        <p:nvSpPr>
          <p:cNvPr id="4" name="Rounded Rectangle 3"/>
          <p:cNvSpPr/>
          <p:nvPr/>
        </p:nvSpPr>
        <p:spPr>
          <a:xfrm>
            <a:off x="841248" y="4251960"/>
            <a:ext cx="5120640" cy="105156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FFFFFF"/>
                </a:solidFill>
                <a:latin typeface="Arial"/>
              </a:rPr>
              <a:t>Actieve uren</a:t>
            </a:r>
          </a:p>
          <a:p>
            <a:pPr algn="l"/>
            <a:r>
              <a:rPr sz="1600">
                <a:solidFill>
                  <a:srgbClr val="FFFFFF"/>
                </a:solidFill>
                <a:latin typeface="Arial"/>
              </a:rPr>
              <a:t>geen herstart midden in je werk</a:t>
            </a:r>
          </a:p>
        </p:txBody>
      </p:sp>
      <p:sp>
        <p:nvSpPr>
          <p:cNvPr id="5" name="Rounded Rectangle 4"/>
          <p:cNvSpPr/>
          <p:nvPr/>
        </p:nvSpPr>
        <p:spPr>
          <a:xfrm>
            <a:off x="6236208" y="4251960"/>
            <a:ext cx="5120640" cy="105156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FFFFFF"/>
                </a:solidFill>
                <a:latin typeface="Arial"/>
              </a:rPr>
              <a:t>Drivers</a:t>
            </a:r>
          </a:p>
          <a:p>
            <a:pPr algn="l"/>
            <a:r>
              <a:rPr sz="1600">
                <a:solidFill>
                  <a:srgbClr val="FFFFFF"/>
                </a:solidFill>
                <a:latin typeface="Arial"/>
              </a:rPr>
              <a:t>via Windows Update of de fabrikant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Antivirus: vier regels</a:t>
            </a:r>
          </a:p>
        </p:txBody>
      </p:sp>
      <p:sp>
        <p:nvSpPr>
          <p:cNvPr id="3" name="Rounded Rectangle 2"/>
          <p:cNvSpPr/>
          <p:nvPr/>
        </p:nvSpPr>
        <p:spPr>
          <a:xfrm>
            <a:off x="841248" y="2103120"/>
            <a:ext cx="516636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1 · Eén realtime antivirus</a:t>
            </a:r>
          </a:p>
          <a:p>
            <a:pPr algn="l"/>
            <a:r>
              <a:rPr sz="1600">
                <a:solidFill>
                  <a:srgbClr val="262626"/>
                </a:solidFill>
                <a:latin typeface="Arial"/>
              </a:rPr>
              <a:t>Twee tegelijk doen dubbel werk en vertragen de pc.</a:t>
            </a:r>
          </a:p>
        </p:txBody>
      </p:sp>
      <p:sp>
        <p:nvSpPr>
          <p:cNvPr id="4" name="Rounded Rectangle 3"/>
          <p:cNvSpPr/>
          <p:nvPr/>
        </p:nvSpPr>
        <p:spPr>
          <a:xfrm>
            <a:off x="6190488" y="2103120"/>
            <a:ext cx="516636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2 · Af en toe een tweede</a:t>
            </a:r>
          </a:p>
          <a:p>
            <a:pPr algn="l"/>
            <a:r>
              <a:rPr sz="1600">
                <a:solidFill>
                  <a:srgbClr val="262626"/>
                </a:solidFill>
                <a:latin typeface="Arial"/>
              </a:rPr>
              <a:t>On-demand scanner als controle, bv. Malwarebytes Free.</a:t>
            </a:r>
          </a:p>
        </p:txBody>
      </p:sp>
      <p:sp>
        <p:nvSpPr>
          <p:cNvPr id="5" name="Rounded Rectangle 4"/>
          <p:cNvSpPr/>
          <p:nvPr/>
        </p:nvSpPr>
        <p:spPr>
          <a:xfrm>
            <a:off x="841248" y="3520439"/>
            <a:ext cx="516636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3 · Updaten en scannen</a:t>
            </a:r>
          </a:p>
          <a:p>
            <a:pPr algn="l"/>
            <a:r>
              <a:rPr sz="1600">
                <a:solidFill>
                  <a:srgbClr val="262626"/>
                </a:solidFill>
                <a:latin typeface="Arial"/>
              </a:rPr>
              <a:t>Nieuwe virusdefinities; snelle scan geregeld, volledige af en toe.</a:t>
            </a:r>
          </a:p>
        </p:txBody>
      </p:sp>
      <p:sp>
        <p:nvSpPr>
          <p:cNvPr id="6" name="Rounded Rectangle 5"/>
          <p:cNvSpPr/>
          <p:nvPr/>
        </p:nvSpPr>
        <p:spPr>
          <a:xfrm>
            <a:off x="6190488" y="3520439"/>
            <a:ext cx="516636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4 · Uitschakelen = uitzondering</a:t>
            </a:r>
          </a:p>
          <a:p>
            <a:pPr algn="l"/>
            <a:r>
              <a:rPr sz="1600">
                <a:solidFill>
                  <a:srgbClr val="262626"/>
                </a:solidFill>
                <a:latin typeface="Arial"/>
              </a:rPr>
              <a:t>Kort, betrouwbare bron, liefst zonder internet, meteen weer aan.</a:t>
            </a:r>
          </a:p>
        </p:txBody>
      </p:sp>
      <p:sp>
        <p:nvSpPr>
          <p:cNvPr id="7" name="TextBox 6"/>
          <p:cNvSpPr txBox="1"/>
          <p:nvPr/>
        </p:nvSpPr>
        <p:spPr>
          <a:xfrm>
            <a:off x="841248" y="5120640"/>
            <a:ext cx="10515600" cy="822960"/>
          </a:xfrm>
          <a:prstGeom prst="rect">
            <a:avLst/>
          </a:prstGeom>
          <a:noFill/>
        </p:spPr>
        <p:txBody>
          <a:bodyPr wrap="square" lIns="0" rIns="0">
            <a:spAutoFit/>
          </a:bodyPr>
          <a:lstStyle/>
          <a:p>
            <a:r>
              <a:rPr sz="1600" b="1">
                <a:solidFill>
                  <a:srgbClr val="262626"/>
                </a:solidFill>
                <a:latin typeface="Arial"/>
              </a:rPr>
              <a:t>Signalen van malware: </a:t>
            </a:r>
            <a:r>
              <a:rPr sz="1600">
                <a:solidFill>
                  <a:srgbClr val="262626"/>
                </a:solidFill>
                <a:latin typeface="Arial"/>
              </a:rPr>
              <a:t>pop-ups, andere startpagina, onbekende programma's, CPU hoog zonder reden. Windows: Microsoft Defender.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Soorten malware</a:t>
            </a:r>
          </a:p>
        </p:txBody>
      </p:sp>
      <p:graphicFrame>
        <p:nvGraphicFramePr>
          <p:cNvPr id="3" name="Table 2"/>
          <p:cNvGraphicFramePr>
            <a:graphicFrameLocks noGrp="1"/>
          </p:cNvGraphicFramePr>
          <p:nvPr/>
        </p:nvGraphicFramePr>
        <p:xfrm>
          <a:off x="841248" y="2103120"/>
          <a:ext cx="10515600" cy="2962656"/>
        </p:xfrm>
        <a:graphic>
          <a:graphicData uri="http://schemas.openxmlformats.org/drawingml/2006/table">
            <a:tbl>
              <a:tblPr firstRow="1" bandRow="1">
                <a:tableStyleId>{5C22544A-7EE6-4342-B048-85BDC9FD1C3A}</a:tableStyleId>
              </a:tblPr>
              <a:tblGrid>
                <a:gridCol w="2377440"/>
                <a:gridCol w="5852160"/>
                <a:gridCol w="2286000"/>
              </a:tblGrid>
              <a:tr h="329184">
                <a:tc>
                  <a:txBody>
                    <a:bodyPr wrap="square"/>
                    <a:lstStyle/>
                    <a:p>
                      <a:r>
                        <a:rPr sz="1400">
                          <a:latin typeface="Arial"/>
                        </a:rPr>
                        <a:t>Soort</a:t>
                      </a:r>
                    </a:p>
                  </a:txBody>
                  <a:tcPr marT="36576" marB="36576"/>
                </a:tc>
                <a:tc>
                  <a:txBody>
                    <a:bodyPr wrap="square"/>
                    <a:lstStyle/>
                    <a:p>
                      <a:r>
                        <a:rPr sz="1400">
                          <a:latin typeface="Arial"/>
                        </a:rPr>
                        <a:t>Wat doet het?</a:t>
                      </a:r>
                    </a:p>
                  </a:txBody>
                  <a:tcPr marT="36576" marB="36576"/>
                </a:tc>
                <a:tc>
                  <a:txBody>
                    <a:bodyPr wrap="square"/>
                    <a:lstStyle/>
                    <a:p>
                      <a:r>
                        <a:rPr sz="1400">
                          <a:latin typeface="Arial"/>
                        </a:rPr>
                        <a:t>Maakt traag?</a:t>
                      </a:r>
                    </a:p>
                  </a:txBody>
                  <a:tcPr marT="36576" marB="36576"/>
                </a:tc>
              </a:tr>
              <a:tr h="329184">
                <a:tc>
                  <a:txBody>
                    <a:bodyPr wrap="square"/>
                    <a:lstStyle/>
                    <a:p>
                      <a:r>
                        <a:rPr sz="1400" b="1">
                          <a:latin typeface="Arial"/>
                        </a:rPr>
                        <a:t>Virus</a:t>
                      </a:r>
                    </a:p>
                  </a:txBody>
                  <a:tcPr marT="36576" marB="36576"/>
                </a:tc>
                <a:tc>
                  <a:txBody>
                    <a:bodyPr wrap="square"/>
                    <a:lstStyle/>
                    <a:p>
                      <a:r>
                        <a:rPr sz="1400">
                          <a:latin typeface="Arial"/>
                        </a:rPr>
                        <a:t>hecht zich aan bestanden, verspreidt zich als je ze opent</a:t>
                      </a:r>
                    </a:p>
                  </a:txBody>
                  <a:tcPr marT="36576" marB="36576"/>
                </a:tc>
                <a:tc>
                  <a:txBody>
                    <a:bodyPr wrap="square"/>
                    <a:lstStyle/>
                    <a:p>
                      <a:r>
                        <a:rPr sz="1400">
                          <a:latin typeface="Arial"/>
                        </a:rPr>
                        <a:t>soms</a:t>
                      </a:r>
                    </a:p>
                  </a:txBody>
                  <a:tcPr marT="36576" marB="36576"/>
                </a:tc>
              </a:tr>
              <a:tr h="329184">
                <a:tc>
                  <a:txBody>
                    <a:bodyPr wrap="square"/>
                    <a:lstStyle/>
                    <a:p>
                      <a:r>
                        <a:rPr sz="1400" b="1">
                          <a:latin typeface="Arial"/>
                        </a:rPr>
                        <a:t>Worm</a:t>
                      </a:r>
                    </a:p>
                  </a:txBody>
                  <a:tcPr marT="36576" marB="36576"/>
                </a:tc>
                <a:tc>
                  <a:txBody>
                    <a:bodyPr wrap="square"/>
                    <a:lstStyle/>
                    <a:p>
                      <a:r>
                        <a:rPr sz="1400">
                          <a:latin typeface="Arial"/>
                        </a:rPr>
                        <a:t>verspreidt zichzelf over het netwerk</a:t>
                      </a:r>
                    </a:p>
                  </a:txBody>
                  <a:tcPr marT="36576" marB="36576"/>
                </a:tc>
                <a:tc>
                  <a:txBody>
                    <a:bodyPr wrap="square"/>
                    <a:lstStyle/>
                    <a:p>
                      <a:r>
                        <a:rPr sz="1400">
                          <a:latin typeface="Arial"/>
                        </a:rPr>
                        <a:t>netwerk traag</a:t>
                      </a:r>
                    </a:p>
                  </a:txBody>
                  <a:tcPr marT="36576" marB="36576"/>
                </a:tc>
              </a:tr>
              <a:tr h="329184">
                <a:tc>
                  <a:txBody>
                    <a:bodyPr wrap="square"/>
                    <a:lstStyle/>
                    <a:p>
                      <a:r>
                        <a:rPr sz="1400" b="1">
                          <a:latin typeface="Arial"/>
                        </a:rPr>
                        <a:t>Trojaans paard</a:t>
                      </a:r>
                    </a:p>
                  </a:txBody>
                  <a:tcPr marT="36576" marB="36576"/>
                </a:tc>
                <a:tc>
                  <a:txBody>
                    <a:bodyPr wrap="square"/>
                    <a:lstStyle/>
                    <a:p>
                      <a:r>
                        <a:rPr sz="1400">
                          <a:latin typeface="Arial"/>
                        </a:rPr>
                        <a:t>vermomd als nuttig programma</a:t>
                      </a:r>
                    </a:p>
                  </a:txBody>
                  <a:tcPr marT="36576" marB="36576"/>
                </a:tc>
                <a:tc>
                  <a:txBody>
                    <a:bodyPr wrap="square"/>
                    <a:lstStyle/>
                    <a:p>
                      <a:r>
                        <a:rPr sz="1400">
                          <a:latin typeface="Arial"/>
                        </a:rPr>
                        <a:t>soms</a:t>
                      </a:r>
                    </a:p>
                  </a:txBody>
                  <a:tcPr marT="36576" marB="36576"/>
                </a:tc>
              </a:tr>
              <a:tr h="329184">
                <a:tc>
                  <a:txBody>
                    <a:bodyPr wrap="square"/>
                    <a:lstStyle/>
                    <a:p>
                      <a:r>
                        <a:rPr sz="1400" b="1">
                          <a:latin typeface="Arial"/>
                        </a:rPr>
                        <a:t>Spyware</a:t>
                      </a:r>
                    </a:p>
                  </a:txBody>
                  <a:tcPr marT="36576" marB="36576"/>
                </a:tc>
                <a:tc>
                  <a:txBody>
                    <a:bodyPr wrap="square"/>
                    <a:lstStyle/>
                    <a:p>
                      <a:r>
                        <a:rPr sz="1400">
                          <a:latin typeface="Arial"/>
                        </a:rPr>
                        <a:t>bespioneert je, steelt gegevens</a:t>
                      </a:r>
                    </a:p>
                  </a:txBody>
                  <a:tcPr marT="36576" marB="36576"/>
                </a:tc>
                <a:tc>
                  <a:txBody>
                    <a:bodyPr wrap="square"/>
                    <a:lstStyle/>
                    <a:p>
                      <a:r>
                        <a:rPr sz="1400" b="1">
                          <a:solidFill>
                            <a:srgbClr val="2E9E46"/>
                          </a:solidFill>
                          <a:latin typeface="Arial"/>
                        </a:rPr>
                        <a:t>vertraagt</a:t>
                      </a:r>
                    </a:p>
                  </a:txBody>
                  <a:tcPr marT="36576" marB="36576"/>
                </a:tc>
              </a:tr>
              <a:tr h="329184">
                <a:tc>
                  <a:txBody>
                    <a:bodyPr wrap="square"/>
                    <a:lstStyle/>
                    <a:p>
                      <a:r>
                        <a:rPr sz="1400" b="1">
                          <a:latin typeface="Arial"/>
                        </a:rPr>
                        <a:t>Adware</a:t>
                      </a:r>
                    </a:p>
                  </a:txBody>
                  <a:tcPr marT="36576" marB="36576"/>
                </a:tc>
                <a:tc>
                  <a:txBody>
                    <a:bodyPr wrap="square"/>
                    <a:lstStyle/>
                    <a:p>
                      <a:r>
                        <a:rPr sz="1400">
                          <a:latin typeface="Arial"/>
                        </a:rPr>
                        <a:t>pop-ups en reclame</a:t>
                      </a:r>
                    </a:p>
                  </a:txBody>
                  <a:tcPr marT="36576" marB="36576"/>
                </a:tc>
                <a:tc>
                  <a:txBody>
                    <a:bodyPr wrap="square"/>
                    <a:lstStyle/>
                    <a:p>
                      <a:r>
                        <a:rPr sz="1400" b="1">
                          <a:solidFill>
                            <a:srgbClr val="2E9E46"/>
                          </a:solidFill>
                          <a:latin typeface="Arial"/>
                        </a:rPr>
                        <a:t>vertraagt</a:t>
                      </a:r>
                    </a:p>
                  </a:txBody>
                  <a:tcPr marT="36576" marB="36576"/>
                </a:tc>
              </a:tr>
              <a:tr h="329184">
                <a:tc>
                  <a:txBody>
                    <a:bodyPr wrap="square"/>
                    <a:lstStyle/>
                    <a:p>
                      <a:r>
                        <a:rPr sz="1400" b="1">
                          <a:latin typeface="Arial"/>
                        </a:rPr>
                        <a:t>Ransomware</a:t>
                      </a:r>
                    </a:p>
                  </a:txBody>
                  <a:tcPr marT="36576" marB="36576"/>
                </a:tc>
                <a:tc>
                  <a:txBody>
                    <a:bodyPr wrap="square"/>
                    <a:lstStyle/>
                    <a:p>
                      <a:r>
                        <a:rPr sz="1400">
                          <a:latin typeface="Arial"/>
                        </a:rPr>
                        <a:t>versleutelt je bestanden, vraagt losgeld</a:t>
                      </a:r>
                    </a:p>
                  </a:txBody>
                  <a:tcPr marT="36576" marB="36576"/>
                </a:tc>
                <a:tc>
                  <a:txBody>
                    <a:bodyPr wrap="square"/>
                    <a:lstStyle/>
                    <a:p>
                      <a:r>
                        <a:rPr sz="1400">
                          <a:latin typeface="Arial"/>
                        </a:rPr>
                        <a:t>bestanden weg</a:t>
                      </a:r>
                    </a:p>
                  </a:txBody>
                  <a:tcPr marT="36576" marB="36576"/>
                </a:tc>
              </a:tr>
              <a:tr h="329184">
                <a:tc>
                  <a:txBody>
                    <a:bodyPr wrap="square"/>
                    <a:lstStyle/>
                    <a:p>
                      <a:r>
                        <a:rPr sz="1400" b="1">
                          <a:latin typeface="Arial"/>
                        </a:rPr>
                        <a:t>Cryptominer</a:t>
                      </a:r>
                    </a:p>
                  </a:txBody>
                  <a:tcPr marT="36576" marB="36576"/>
                </a:tc>
                <a:tc>
                  <a:txBody>
                    <a:bodyPr wrap="square"/>
                    <a:lstStyle/>
                    <a:p>
                      <a:r>
                        <a:rPr sz="1400">
                          <a:latin typeface="Arial"/>
                        </a:rPr>
                        <a:t>gebruikt je processor voor cryptomunten</a:t>
                      </a:r>
                    </a:p>
                  </a:txBody>
                  <a:tcPr marT="36576" marB="36576"/>
                </a:tc>
                <a:tc>
                  <a:txBody>
                    <a:bodyPr wrap="square"/>
                    <a:lstStyle/>
                    <a:p>
                      <a:r>
                        <a:rPr sz="1400" b="1">
                          <a:solidFill>
                            <a:srgbClr val="2E9E46"/>
                          </a:solidFill>
                          <a:latin typeface="Arial"/>
                        </a:rPr>
                        <a:t>CPU 100 %</a:t>
                      </a:r>
                    </a:p>
                  </a:txBody>
                  <a:tcPr marT="36576" marB="36576"/>
                </a:tc>
              </a:tr>
              <a:tr h="329184">
                <a:tc>
                  <a:txBody>
                    <a:bodyPr wrap="square"/>
                    <a:lstStyle/>
                    <a:p>
                      <a:r>
                        <a:rPr sz="1400" b="1">
                          <a:latin typeface="Arial"/>
                        </a:rPr>
                        <a:t>Ongewenste app (PUP)</a:t>
                      </a:r>
                    </a:p>
                  </a:txBody>
                  <a:tcPr marT="36576" marB="36576"/>
                </a:tc>
                <a:tc>
                  <a:txBody>
                    <a:bodyPr wrap="square"/>
                    <a:lstStyle/>
                    <a:p>
                      <a:r>
                        <a:rPr sz="1400">
                          <a:latin typeface="Arial"/>
                        </a:rPr>
                        <a:t>werkbalken, "pc-optimizers" bij gratis software</a:t>
                      </a:r>
                    </a:p>
                  </a:txBody>
                  <a:tcPr marT="36576" marB="36576"/>
                </a:tc>
                <a:tc>
                  <a:txBody>
                    <a:bodyPr wrap="square"/>
                    <a:lstStyle/>
                    <a:p>
                      <a:r>
                        <a:rPr sz="1400" b="1">
                          <a:solidFill>
                            <a:srgbClr val="2E9E46"/>
                          </a:solidFill>
                          <a:latin typeface="Arial"/>
                        </a:rPr>
                        <a:t>vertraagt</a:t>
                      </a:r>
                    </a:p>
                  </a:txBody>
                  <a:tcPr marT="36576" marB="36576"/>
                </a:tc>
              </a:tr>
            </a:tbl>
          </a:graphicData>
        </a:graphic>
      </p:graphicFrame>
      <p:sp>
        <p:nvSpPr>
          <p:cNvPr id="4" name="TextBox 3"/>
          <p:cNvSpPr txBox="1"/>
          <p:nvPr/>
        </p:nvSpPr>
        <p:spPr>
          <a:xfrm>
            <a:off x="841248" y="5440680"/>
            <a:ext cx="10515600" cy="548640"/>
          </a:xfrm>
          <a:prstGeom prst="rect">
            <a:avLst/>
          </a:prstGeom>
          <a:noFill/>
        </p:spPr>
        <p:txBody>
          <a:bodyPr wrap="square" lIns="0" rIns="0">
            <a:spAutoFit/>
          </a:bodyPr>
          <a:lstStyle/>
          <a:p>
            <a:r>
              <a:rPr sz="1400" b="1">
                <a:solidFill>
                  <a:srgbClr val="262626"/>
                </a:solidFill>
                <a:latin typeface="Arial"/>
              </a:rPr>
              <a:t>Defender: </a:t>
            </a:r>
            <a:r>
              <a:rPr sz="1400">
                <a:solidFill>
                  <a:srgbClr val="262626"/>
                </a:solidFill>
                <a:latin typeface="Arial"/>
              </a:rPr>
              <a:t>App- en browserbeheer → Bescherming op basis van reputatie → Potentieel ongewenste apps blokkeren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Opstarten in zes stappen</a:t>
            </a:r>
          </a:p>
        </p:txBody>
      </p:sp>
      <p:sp>
        <p:nvSpPr>
          <p:cNvPr id="3" name="Rounded Rectangle 2"/>
          <p:cNvSpPr/>
          <p:nvPr/>
        </p:nvSpPr>
        <p:spPr>
          <a:xfrm>
            <a:off x="841248" y="2103120"/>
            <a:ext cx="3108960" cy="11430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FFFFFF"/>
                </a:solidFill>
                <a:latin typeface="Arial"/>
              </a:rPr>
              <a:t>1 · Aan-knop</a:t>
            </a:r>
          </a:p>
          <a:p>
            <a:pPr algn="l"/>
            <a:r>
              <a:rPr sz="1500">
                <a:solidFill>
                  <a:srgbClr val="FFFFFF"/>
                </a:solidFill>
                <a:latin typeface="Arial"/>
              </a:rPr>
              <a:t>stroom naar alle onderdelen</a:t>
            </a:r>
          </a:p>
        </p:txBody>
      </p:sp>
      <p:sp>
        <p:nvSpPr>
          <p:cNvPr id="4" name="Right Arrow 3"/>
          <p:cNvSpPr/>
          <p:nvPr/>
        </p:nvSpPr>
        <p:spPr>
          <a:xfrm>
            <a:off x="4014216" y="2542032"/>
            <a:ext cx="347472" cy="274320"/>
          </a:xfrm>
          <a:prstGeom prst="rightArrow">
            <a:avLst/>
          </a:prstGeom>
          <a:solidFill>
            <a:srgbClr val="2E9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434840" y="2103120"/>
            <a:ext cx="3108960" cy="11430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FFFFFF"/>
                </a:solidFill>
                <a:latin typeface="Arial"/>
              </a:rPr>
              <a:t>2 · POST</a:t>
            </a:r>
          </a:p>
          <a:p>
            <a:pPr algn="l"/>
            <a:r>
              <a:rPr sz="1500">
                <a:solidFill>
                  <a:srgbClr val="FFFFFF"/>
                </a:solidFill>
                <a:latin typeface="Arial"/>
              </a:rPr>
              <a:t>firmware test de hardware</a:t>
            </a:r>
          </a:p>
        </p:txBody>
      </p:sp>
      <p:sp>
        <p:nvSpPr>
          <p:cNvPr id="6" name="Right Arrow 5"/>
          <p:cNvSpPr/>
          <p:nvPr/>
        </p:nvSpPr>
        <p:spPr>
          <a:xfrm>
            <a:off x="7607808" y="2542032"/>
            <a:ext cx="347472" cy="274320"/>
          </a:xfrm>
          <a:prstGeom prst="rightArrow">
            <a:avLst/>
          </a:prstGeom>
          <a:solidFill>
            <a:srgbClr val="2E9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28432" y="2103120"/>
            <a:ext cx="3108960" cy="11430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FFFFFF"/>
                </a:solidFill>
                <a:latin typeface="Arial"/>
              </a:rPr>
              <a:t>3 · Bootvolgorde</a:t>
            </a:r>
          </a:p>
          <a:p>
            <a:pPr algn="l"/>
            <a:r>
              <a:rPr sz="1500">
                <a:solidFill>
                  <a:srgbClr val="FFFFFF"/>
                </a:solidFill>
                <a:latin typeface="Arial"/>
              </a:rPr>
              <a:t>firmware zoekt de opstartschijf</a:t>
            </a:r>
          </a:p>
        </p:txBody>
      </p:sp>
      <p:sp>
        <p:nvSpPr>
          <p:cNvPr id="8" name="Rounded Rectangle 7"/>
          <p:cNvSpPr/>
          <p:nvPr/>
        </p:nvSpPr>
        <p:spPr>
          <a:xfrm>
            <a:off x="841248" y="3474720"/>
            <a:ext cx="3108960" cy="1143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2E9E46"/>
                </a:solidFill>
                <a:latin typeface="Arial"/>
              </a:rPr>
              <a:t>4 · Windows laden</a:t>
            </a:r>
          </a:p>
          <a:p>
            <a:pPr algn="l"/>
            <a:r>
              <a:rPr sz="1500">
                <a:solidFill>
                  <a:srgbClr val="262626"/>
                </a:solidFill>
                <a:latin typeface="Arial"/>
              </a:rPr>
              <a:t>het logo verschijnt</a:t>
            </a:r>
          </a:p>
        </p:txBody>
      </p:sp>
      <p:sp>
        <p:nvSpPr>
          <p:cNvPr id="9" name="Right Arrow 8"/>
          <p:cNvSpPr/>
          <p:nvPr/>
        </p:nvSpPr>
        <p:spPr>
          <a:xfrm>
            <a:off x="4014216" y="3913631"/>
            <a:ext cx="347472" cy="274320"/>
          </a:xfrm>
          <a:prstGeom prst="rightArrow">
            <a:avLst/>
          </a:prstGeom>
          <a:solidFill>
            <a:srgbClr val="2E9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34840" y="3474720"/>
            <a:ext cx="3108960" cy="1143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2E9E46"/>
                </a:solidFill>
                <a:latin typeface="Arial"/>
              </a:rPr>
              <a:t>5 · Aanmelden</a:t>
            </a:r>
          </a:p>
          <a:p>
            <a:pPr algn="l"/>
            <a:r>
              <a:rPr sz="1500">
                <a:solidFill>
                  <a:srgbClr val="262626"/>
                </a:solidFill>
                <a:latin typeface="Arial"/>
              </a:rPr>
              <a:t>pincode of wachtwoord</a:t>
            </a:r>
          </a:p>
        </p:txBody>
      </p:sp>
      <p:sp>
        <p:nvSpPr>
          <p:cNvPr id="11" name="Right Arrow 10"/>
          <p:cNvSpPr/>
          <p:nvPr/>
        </p:nvSpPr>
        <p:spPr>
          <a:xfrm>
            <a:off x="7607808" y="3913631"/>
            <a:ext cx="347472" cy="274320"/>
          </a:xfrm>
          <a:prstGeom prst="rightArrow">
            <a:avLst/>
          </a:prstGeom>
          <a:solidFill>
            <a:srgbClr val="2E9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28432" y="3474720"/>
            <a:ext cx="3108960" cy="1143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700" b="1">
                <a:solidFill>
                  <a:srgbClr val="2E9E46"/>
                </a:solidFill>
                <a:latin typeface="Arial"/>
              </a:rPr>
              <a:t>6 · Opstartprogramma's</a:t>
            </a:r>
          </a:p>
          <a:p>
            <a:pPr algn="l"/>
            <a:r>
              <a:rPr sz="1500">
                <a:solidFill>
                  <a:srgbClr val="262626"/>
                </a:solidFill>
                <a:latin typeface="Arial"/>
              </a:rPr>
              <a:t>zie H2</a:t>
            </a:r>
          </a:p>
        </p:txBody>
      </p:sp>
      <p:sp>
        <p:nvSpPr>
          <p:cNvPr id="13" name="TextBox 12"/>
          <p:cNvSpPr txBox="1"/>
          <p:nvPr/>
        </p:nvSpPr>
        <p:spPr>
          <a:xfrm>
            <a:off x="841248" y="4983480"/>
            <a:ext cx="10515600" cy="914400"/>
          </a:xfrm>
          <a:prstGeom prst="rect">
            <a:avLst/>
          </a:prstGeom>
          <a:noFill/>
        </p:spPr>
        <p:txBody>
          <a:bodyPr wrap="square" lIns="0" rIns="0">
            <a:spAutoFit/>
          </a:bodyPr>
          <a:lstStyle/>
          <a:p>
            <a:r>
              <a:rPr sz="1600" b="1">
                <a:solidFill>
                  <a:srgbClr val="262626"/>
                </a:solidFill>
                <a:latin typeface="Arial"/>
              </a:rPr>
              <a:t>Stap 1–3 = firmware (BIOS/UEFI). </a:t>
            </a:r>
            <a:r>
              <a:rPr sz="1600">
                <a:solidFill>
                  <a:srgbClr val="262626"/>
                </a:solidFill>
                <a:latin typeface="Arial"/>
              </a:rPr>
              <a:t>Hoe lang dat duurde: Taakbeheer → Opstarten → Laatste BIOS-tijd. Enkele seconden is normaal.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Sneller opstarten via de UEFI</a:t>
            </a:r>
          </a:p>
        </p:txBody>
      </p:sp>
      <p:graphicFrame>
        <p:nvGraphicFramePr>
          <p:cNvPr id="3" name="Table 2"/>
          <p:cNvGraphicFramePr>
            <a:graphicFrameLocks noGrp="1"/>
          </p:cNvGraphicFramePr>
          <p:nvPr/>
        </p:nvGraphicFramePr>
        <p:xfrm>
          <a:off x="841248" y="2103120"/>
          <a:ext cx="10515600" cy="1975104"/>
        </p:xfrm>
        <a:graphic>
          <a:graphicData uri="http://schemas.openxmlformats.org/drawingml/2006/table">
            <a:tbl>
              <a:tblPr firstRow="1" bandRow="1">
                <a:tableStyleId>{5C22544A-7EE6-4342-B048-85BDC9FD1C3A}</a:tableStyleId>
              </a:tblPr>
              <a:tblGrid>
                <a:gridCol w="3840480"/>
                <a:gridCol w="6675120"/>
              </a:tblGrid>
              <a:tr h="329184">
                <a:tc>
                  <a:txBody>
                    <a:bodyPr wrap="square"/>
                    <a:lstStyle/>
                    <a:p>
                      <a:r>
                        <a:rPr sz="1600">
                          <a:latin typeface="Arial"/>
                        </a:rPr>
                        <a:t>Cursus</a:t>
                      </a:r>
                    </a:p>
                  </a:txBody>
                  <a:tcPr marT="36576" marB="36576"/>
                </a:tc>
                <a:tc>
                  <a:txBody>
                    <a:bodyPr wrap="square"/>
                    <a:lstStyle/>
                    <a:p>
                      <a:r>
                        <a:rPr sz="1600">
                          <a:latin typeface="Arial"/>
                        </a:rPr>
                        <a:t>In de praktijk</a:t>
                      </a:r>
                    </a:p>
                  </a:txBody>
                  <a:tcPr marT="36576" marB="36576"/>
                </a:tc>
              </a:tr>
              <a:tr h="329184">
                <a:tc>
                  <a:txBody>
                    <a:bodyPr wrap="square"/>
                    <a:lstStyle/>
                    <a:p>
                      <a:r>
                        <a:rPr sz="1600">
                          <a:latin typeface="Arial"/>
                        </a:rPr>
                        <a:t>Controleer de BIOS</a:t>
                      </a:r>
                    </a:p>
                  </a:txBody>
                  <a:tcPr marT="36576" marB="36576"/>
                </a:tc>
                <a:tc>
                  <a:txBody>
                    <a:bodyPr wrap="square"/>
                    <a:lstStyle/>
                    <a:p>
                      <a:r>
                        <a:rPr sz="1600">
                          <a:latin typeface="Arial"/>
                        </a:rPr>
                        <a:t>F2 of Del bij het aanzetten (of via Geavanceerde opstart)</a:t>
                      </a:r>
                    </a:p>
                  </a:txBody>
                  <a:tcPr marT="36576" marB="36576"/>
                </a:tc>
              </a:tr>
              <a:tr h="329184">
                <a:tc>
                  <a:txBody>
                    <a:bodyPr wrap="square"/>
                    <a:lstStyle/>
                    <a:p>
                      <a:r>
                        <a:rPr sz="1600">
                          <a:latin typeface="Arial"/>
                        </a:rPr>
                        <a:t>Schakel alle posts uit</a:t>
                      </a:r>
                    </a:p>
                  </a:txBody>
                  <a:tcPr marT="36576" marB="36576"/>
                </a:tc>
                <a:tc>
                  <a:txBody>
                    <a:bodyPr wrap="square"/>
                    <a:lstStyle/>
                    <a:p>
                      <a:r>
                        <a:rPr sz="1600">
                          <a:latin typeface="Arial"/>
                        </a:rPr>
                        <a:t>Helemaal uitschakelen kan niet. Zet </a:t>
                      </a:r>
                      <a:r>
                        <a:rPr sz="1600" b="1">
                          <a:latin typeface="Arial"/>
                        </a:rPr>
                        <a:t>Fast Boot</a:t>
                      </a:r>
                      <a:r>
                        <a:rPr sz="1600">
                          <a:latin typeface="Arial"/>
                        </a:rPr>
                        <a:t> aan.</a:t>
                      </a:r>
                    </a:p>
                  </a:txBody>
                  <a:tcPr marT="36576" marB="36576"/>
                </a:tc>
              </a:tr>
              <a:tr h="329184">
                <a:tc>
                  <a:txBody>
                    <a:bodyPr wrap="square"/>
                    <a:lstStyle/>
                    <a:p>
                      <a:r>
                        <a:rPr sz="1600">
                          <a:latin typeface="Arial"/>
                        </a:rPr>
                        <a:t>(extra)</a:t>
                      </a:r>
                    </a:p>
                  </a:txBody>
                  <a:tcPr marT="36576" marB="36576"/>
                </a:tc>
                <a:tc>
                  <a:txBody>
                    <a:bodyPr wrap="square"/>
                    <a:lstStyle/>
                    <a:p>
                      <a:r>
                        <a:rPr sz="1600">
                          <a:latin typeface="Arial"/>
                        </a:rPr>
                        <a:t>Windows-schijf </a:t>
                      </a:r>
                      <a:r>
                        <a:rPr sz="1600" b="1">
                          <a:latin typeface="Arial"/>
                        </a:rPr>
                        <a:t>bovenaan de bootvolgorde</a:t>
                      </a:r>
                    </a:p>
                  </a:txBody>
                  <a:tcPr marT="36576" marB="36576"/>
                </a:tc>
              </a:tr>
              <a:tr h="329184">
                <a:tc>
                  <a:txBody>
                    <a:bodyPr wrap="square"/>
                    <a:lstStyle/>
                    <a:p>
                      <a:r>
                        <a:rPr sz="1600">
                          <a:latin typeface="Arial"/>
                        </a:rPr>
                        <a:t>Schakel ongebruikte hardware uit</a:t>
                      </a:r>
                    </a:p>
                  </a:txBody>
                  <a:tcPr marT="36576" marB="36576"/>
                </a:tc>
                <a:tc>
                  <a:txBody>
                    <a:bodyPr wrap="square"/>
                    <a:lstStyle/>
                    <a:p>
                      <a:r>
                        <a:rPr sz="1600">
                          <a:latin typeface="Arial"/>
                        </a:rPr>
                        <a:t>bv. ongebruikte poorten of controllers in de UEFI</a:t>
                      </a:r>
                    </a:p>
                  </a:txBody>
                  <a:tcPr marT="36576" marB="36576"/>
                </a:tc>
              </a:tr>
              <a:tr h="329184">
                <a:tc>
                  <a:txBody>
                    <a:bodyPr wrap="square"/>
                    <a:lstStyle/>
                    <a:p>
                      <a:r>
                        <a:rPr sz="1600">
                          <a:latin typeface="Arial"/>
                        </a:rPr>
                        <a:t>Verwijder ongebruikte hardware</a:t>
                      </a:r>
                    </a:p>
                  </a:txBody>
                  <a:tcPr marT="36576" marB="36576"/>
                </a:tc>
                <a:tc>
                  <a:txBody>
                    <a:bodyPr wrap="square"/>
                    <a:lstStyle/>
                    <a:p>
                      <a:r>
                        <a:rPr sz="1600">
                          <a:latin typeface="Arial"/>
                        </a:rPr>
                        <a:t>oude kaarten, usb-sticks, ongebruikte schijven eruit</a:t>
                      </a:r>
                    </a:p>
                  </a:txBody>
                  <a:tcPr marT="36576" marB="36576"/>
                </a:tc>
              </a:tr>
            </a:tbl>
          </a:graphicData>
        </a:graphic>
      </p:graphicFrame>
      <p:sp>
        <p:nvSpPr>
          <p:cNvPr id="4" name="TextBox 3"/>
          <p:cNvSpPr txBox="1"/>
          <p:nvPr/>
        </p:nvSpPr>
        <p:spPr>
          <a:xfrm>
            <a:off x="841248" y="4709160"/>
            <a:ext cx="10515600" cy="914400"/>
          </a:xfrm>
          <a:prstGeom prst="rect">
            <a:avLst/>
          </a:prstGeom>
          <a:noFill/>
        </p:spPr>
        <p:txBody>
          <a:bodyPr wrap="square" lIns="0" rIns="0">
            <a:spAutoFit/>
          </a:bodyPr>
          <a:lstStyle/>
          <a:p>
            <a:r>
              <a:rPr sz="1800" b="1">
                <a:solidFill>
                  <a:srgbClr val="2E9E46"/>
                </a:solidFill>
                <a:latin typeface="Arial"/>
              </a:rPr>
              <a:t>Let op: </a:t>
            </a:r>
            <a:r>
              <a:rPr sz="1800">
                <a:solidFill>
                  <a:srgbClr val="262626"/>
                </a:solidFill>
                <a:latin typeface="Arial"/>
              </a:rPr>
              <a:t>neem een foto van de instellingen vóór je iets wijzigt.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Van draaiende platen naar flashgeheugen</a:t>
            </a:r>
          </a:p>
        </p:txBody>
      </p:sp>
      <p:sp>
        <p:nvSpPr>
          <p:cNvPr id="3" name="Rounded Rectangle 2"/>
          <p:cNvSpPr/>
          <p:nvPr/>
        </p:nvSpPr>
        <p:spPr>
          <a:xfrm>
            <a:off x="841248" y="2103120"/>
            <a:ext cx="246888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2E9E46"/>
                </a:solidFill>
                <a:latin typeface="Arial"/>
              </a:rPr>
              <a:t>HDD</a:t>
            </a:r>
          </a:p>
          <a:p>
            <a:pPr algn="l"/>
            <a:r>
              <a:rPr sz="1500">
                <a:solidFill>
                  <a:srgbClr val="262626"/>
                </a:solidFill>
                <a:latin typeface="Arial"/>
              </a:rPr>
              <a:t>traag</a:t>
            </a:r>
          </a:p>
          <a:p>
            <a:pPr algn="l"/>
            <a:r>
              <a:rPr sz="1500">
                <a:solidFill>
                  <a:srgbClr val="262626"/>
                </a:solidFill>
                <a:latin typeface="Arial"/>
              </a:rPr>
              <a:t>draaiende platen en een leeskop</a:t>
            </a:r>
          </a:p>
        </p:txBody>
      </p:sp>
      <p:sp>
        <p:nvSpPr>
          <p:cNvPr id="4" name="Rounded Rectangle 3"/>
          <p:cNvSpPr/>
          <p:nvPr/>
        </p:nvSpPr>
        <p:spPr>
          <a:xfrm>
            <a:off x="3538728" y="2103120"/>
            <a:ext cx="246888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2E9E46"/>
                </a:solidFill>
                <a:latin typeface="Arial"/>
              </a:rPr>
              <a:t>SSHD</a:t>
            </a:r>
          </a:p>
          <a:p>
            <a:pPr algn="l"/>
            <a:r>
              <a:rPr sz="1500">
                <a:solidFill>
                  <a:srgbClr val="262626"/>
                </a:solidFill>
                <a:latin typeface="Arial"/>
              </a:rPr>
              <a:t>iets sneller</a:t>
            </a:r>
          </a:p>
          <a:p>
            <a:pPr algn="l"/>
            <a:r>
              <a:rPr sz="1500">
                <a:solidFill>
                  <a:srgbClr val="262626"/>
                </a:solidFill>
                <a:latin typeface="Arial"/>
              </a:rPr>
              <a:t>HDD met een stukje flashgeheugen</a:t>
            </a:r>
          </a:p>
        </p:txBody>
      </p:sp>
      <p:sp>
        <p:nvSpPr>
          <p:cNvPr id="5" name="Rounded Rectangle 4"/>
          <p:cNvSpPr/>
          <p:nvPr/>
        </p:nvSpPr>
        <p:spPr>
          <a:xfrm>
            <a:off x="6236208" y="2103120"/>
            <a:ext cx="2468880" cy="18288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2E9E46"/>
                </a:solidFill>
                <a:latin typeface="Arial"/>
              </a:rPr>
              <a:t>SATA-SSD</a:t>
            </a:r>
          </a:p>
          <a:p>
            <a:pPr algn="l"/>
            <a:r>
              <a:rPr sz="1500">
                <a:solidFill>
                  <a:srgbClr val="262626"/>
                </a:solidFill>
                <a:latin typeface="Arial"/>
              </a:rPr>
              <a:t>snel</a:t>
            </a:r>
          </a:p>
          <a:p>
            <a:pPr algn="l"/>
            <a:r>
              <a:rPr sz="1500">
                <a:solidFill>
                  <a:srgbClr val="262626"/>
                </a:solidFill>
                <a:latin typeface="Arial"/>
              </a:rPr>
              <a:t>flashgeheugen, geen bewegende delen</a:t>
            </a:r>
          </a:p>
        </p:txBody>
      </p:sp>
      <p:sp>
        <p:nvSpPr>
          <p:cNvPr id="6" name="Rounded Rectangle 5"/>
          <p:cNvSpPr/>
          <p:nvPr/>
        </p:nvSpPr>
        <p:spPr>
          <a:xfrm>
            <a:off x="8933688" y="2103120"/>
            <a:ext cx="2468880" cy="1828800"/>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2000" b="1">
                <a:solidFill>
                  <a:srgbClr val="FFFFFF"/>
                </a:solidFill>
                <a:latin typeface="Arial"/>
              </a:rPr>
              <a:t>NVMe-SSD</a:t>
            </a:r>
          </a:p>
          <a:p>
            <a:pPr algn="l"/>
            <a:r>
              <a:rPr sz="1500">
                <a:solidFill>
                  <a:srgbClr val="FFFFFF"/>
                </a:solidFill>
                <a:latin typeface="Arial"/>
              </a:rPr>
              <a:t>zeer snel</a:t>
            </a:r>
          </a:p>
          <a:p>
            <a:pPr algn="l"/>
            <a:r>
              <a:rPr sz="1500">
                <a:solidFill>
                  <a:srgbClr val="FFFFFF"/>
                </a:solidFill>
                <a:latin typeface="Arial"/>
              </a:rPr>
              <a:t>flash op een M.2-reepje</a:t>
            </a:r>
          </a:p>
        </p:txBody>
      </p:sp>
      <p:sp>
        <p:nvSpPr>
          <p:cNvPr id="7" name="TextBox 6"/>
          <p:cNvSpPr txBox="1"/>
          <p:nvPr/>
        </p:nvSpPr>
        <p:spPr>
          <a:xfrm>
            <a:off x="841248" y="4206240"/>
            <a:ext cx="10515600" cy="1097280"/>
          </a:xfrm>
          <a:prstGeom prst="rect">
            <a:avLst/>
          </a:prstGeom>
          <a:noFill/>
        </p:spPr>
        <p:txBody>
          <a:bodyPr wrap="square" lIns="0" rIns="0">
            <a:spAutoFit/>
          </a:bodyPr>
          <a:lstStyle/>
          <a:p>
            <a:r>
              <a:rPr sz="1800" b="1">
                <a:solidFill>
                  <a:srgbClr val="262626"/>
                </a:solidFill>
                <a:latin typeface="Arial"/>
              </a:rPr>
              <a:t>Welke heb jij? </a:t>
            </a:r>
            <a:r>
              <a:rPr sz="1800">
                <a:solidFill>
                  <a:srgbClr val="262626"/>
                </a:solidFill>
                <a:latin typeface="Arial"/>
              </a:rPr>
              <a:t>Taakbeheer → Prestaties → Schijf 0. Een HDD vervangen door een SSD is vaak de grootste verbetering.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je harde schijf nog gezond?</a:t>
            </a:r>
          </a:p>
        </p:txBody>
      </p:sp>
      <p:sp>
        <p:nvSpPr>
          <p:cNvPr id="3" name="Rounded Rectangle 2"/>
          <p:cNvSpPr/>
          <p:nvPr/>
        </p:nvSpPr>
        <p:spPr>
          <a:xfrm>
            <a:off x="841248" y="2103120"/>
            <a:ext cx="5166360" cy="129844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Signalen</a:t>
            </a:r>
          </a:p>
          <a:p>
            <a:pPr algn="l"/>
            <a:r>
              <a:rPr sz="1600">
                <a:solidFill>
                  <a:srgbClr val="262626"/>
                </a:solidFill>
                <a:latin typeface="Arial"/>
              </a:rPr>
              <a:t>klikkende geluiden, bestanden openen heel traag, foutmeldingen bij kopiëren, vastlopers</a:t>
            </a:r>
          </a:p>
        </p:txBody>
      </p:sp>
      <p:sp>
        <p:nvSpPr>
          <p:cNvPr id="4" name="Rounded Rectangle 3"/>
          <p:cNvSpPr/>
          <p:nvPr/>
        </p:nvSpPr>
        <p:spPr>
          <a:xfrm>
            <a:off x="6190488" y="2103120"/>
            <a:ext cx="5166360" cy="129844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CrystalDiskInfo</a:t>
            </a:r>
          </a:p>
          <a:p>
            <a:pPr algn="l"/>
            <a:r>
              <a:rPr sz="1600">
                <a:solidFill>
                  <a:srgbClr val="262626"/>
                </a:solidFill>
                <a:latin typeface="Arial"/>
              </a:rPr>
              <a:t>leest de SMART-gegevens van de schijf: Goed · Let op · Slecht</a:t>
            </a:r>
          </a:p>
        </p:txBody>
      </p:sp>
      <p:sp>
        <p:nvSpPr>
          <p:cNvPr id="5" name="Rounded Rectangle 4"/>
          <p:cNvSpPr/>
          <p:nvPr/>
        </p:nvSpPr>
        <p:spPr>
          <a:xfrm>
            <a:off x="841248" y="3566160"/>
            <a:ext cx="5166360" cy="129844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Foutcontrole</a:t>
            </a:r>
          </a:p>
          <a:p>
            <a:pPr algn="l"/>
            <a:r>
              <a:rPr sz="1600">
                <a:solidFill>
                  <a:srgbClr val="262626"/>
                </a:solidFill>
                <a:latin typeface="Arial"/>
              </a:rPr>
              <a:t>Verkenner → rechtsklik C: → Eigenschappen → Extra → Controleren (of chkdsk)</a:t>
            </a:r>
          </a:p>
        </p:txBody>
      </p:sp>
      <p:sp>
        <p:nvSpPr>
          <p:cNvPr id="6" name="Rounded Rectangle 5"/>
          <p:cNvSpPr/>
          <p:nvPr/>
        </p:nvSpPr>
        <p:spPr>
          <a:xfrm>
            <a:off x="6190488" y="3566160"/>
            <a:ext cx="5166360" cy="1298448"/>
          </a:xfrm>
          <a:prstGeom prst="roundRect">
            <a:avLst>
              <a:gd name="adj" fmla="val 8000"/>
            </a:avLst>
          </a:prstGeom>
          <a:solidFill>
            <a:srgbClr val="2031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FFFFFF"/>
                </a:solidFill>
                <a:latin typeface="Arial"/>
              </a:rPr>
              <a:t>Let op of Slecht?</a:t>
            </a:r>
          </a:p>
          <a:p>
            <a:pPr algn="l"/>
            <a:r>
              <a:rPr sz="1600">
                <a:solidFill>
                  <a:srgbClr val="FFFFFF"/>
                </a:solidFill>
                <a:latin typeface="Arial"/>
              </a:rPr>
              <a:t>eerst een back-up, dan de schijf vervangen, liefst door een SSD</a:t>
            </a:r>
          </a:p>
        </p:txBody>
      </p:sp>
      <p:sp>
        <p:nvSpPr>
          <p:cNvPr id="7" name="TextBox 6"/>
          <p:cNvSpPr txBox="1"/>
          <p:nvPr/>
        </p:nvSpPr>
        <p:spPr>
          <a:xfrm>
            <a:off x="841248" y="4983480"/>
            <a:ext cx="10515600" cy="822960"/>
          </a:xfrm>
          <a:prstGeom prst="rect">
            <a:avLst/>
          </a:prstGeom>
          <a:noFill/>
        </p:spPr>
        <p:txBody>
          <a:bodyPr wrap="square" lIns="0" rIns="0">
            <a:spAutoFit/>
          </a:bodyPr>
          <a:lstStyle/>
          <a:p>
            <a:r>
              <a:rPr sz="1600" b="1">
                <a:solidFill>
                  <a:srgbClr val="262626"/>
                </a:solidFill>
                <a:latin typeface="Arial"/>
              </a:rPr>
              <a:t>Defragmenteren: </a:t>
            </a:r>
            <a:r>
              <a:rPr sz="1600">
                <a:solidFill>
                  <a:srgbClr val="262626"/>
                </a:solidFill>
                <a:latin typeface="Arial"/>
              </a:rPr>
              <a:t>helpt een HDD; Windows doet het wekelijks zelf via "Stations optimaliseren". Een SSD defragmenteer je niet.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wrap="square"/>
          <a:lstStyle/>
          <a:p>
            <a:r>
              <a:rPr sz="1800">
                <a:latin typeface="Arial"/>
              </a:rPr>
              <a:t>Verkenner → Deze pc</a:t>
            </a:r>
          </a:p>
          <a:p>
            <a:r>
              <a:rPr sz="1800">
                <a:latin typeface="Arial"/>
              </a:rPr>
              <a:t>C: 20 GB vrij van 237 GB</a:t>
            </a:r>
          </a:p>
          <a:p>
            <a:r>
              <a:rPr sz="1800" b="1">
                <a:latin typeface="Arial"/>
              </a:rPr>
              <a:t>20 ÷ 237 × 100 = 8 % → te vol</a:t>
            </a:r>
          </a:p>
          <a:p>
            <a:r>
              <a:rPr sz="1800">
                <a:latin typeface="Arial"/>
              </a:rPr>
              <a:t>&lt; 10 % te vol · 10–15 % krap · ≥ 15 % genoeg</a:t>
            </a:r>
          </a:p>
        </p:txBody>
      </p:sp>
      <p:sp>
        <p:nvSpPr>
          <p:cNvPr id="3" name="Text Placeholder 2"/>
          <p:cNvSpPr>
            <a:spLocks noGrp="1"/>
          </p:cNvSpPr>
          <p:nvPr>
            <p:ph type="body" idx="3" sz="quarter"/>
          </p:nvPr>
        </p:nvSpPr>
        <p:spPr/>
        <p:txBody>
          <a:bodyPr/>
          <a:lstStyle/>
          <a:p>
            <a:r>
              <a:t>Opruimen</a:t>
            </a:r>
          </a:p>
        </p:txBody>
      </p:sp>
      <p:sp>
        <p:nvSpPr>
          <p:cNvPr id="4" name="Content Placeholder 3"/>
          <p:cNvSpPr>
            <a:spLocks noGrp="1"/>
          </p:cNvSpPr>
          <p:nvPr>
            <p:ph idx="4" sz="quarter"/>
          </p:nvPr>
        </p:nvSpPr>
        <p:spPr/>
        <p:txBody>
          <a:bodyPr wrap="square"/>
          <a:lstStyle/>
          <a:p>
            <a:r>
              <a:rPr sz="1700">
                <a:latin typeface="Arial"/>
              </a:rPr>
              <a:t>Schijfopruiming (+ Systeembestanden opschonen)</a:t>
            </a:r>
          </a:p>
          <a:p>
            <a:r>
              <a:rPr sz="1700">
                <a:latin typeface="Arial"/>
              </a:rPr>
              <a:t>Instellingen → Systeem → Opslag</a:t>
            </a:r>
          </a:p>
          <a:p>
            <a:r>
              <a:rPr sz="1700">
                <a:latin typeface="Arial"/>
              </a:rPr>
              <a:t>Ongebruikte programma's en grote bestanden weg</a:t>
            </a:r>
          </a:p>
          <a:p>
            <a:r>
              <a:rPr sz="1700">
                <a:solidFill>
                  <a:srgbClr val="2E9E46"/>
                </a:solidFill>
                <a:latin typeface="Arial"/>
              </a:rPr>
              <a:t>Een SSD defragmenteer je niet. "Vrije ruimte wissen" is voor privacy, niet voor snelheid.</a:t>
            </a:r>
          </a:p>
        </p:txBody>
      </p:sp>
      <p:sp>
        <p:nvSpPr>
          <p:cNvPr id="5" name="Text Placeholder 4"/>
          <p:cNvSpPr>
            <a:spLocks noGrp="1"/>
          </p:cNvSpPr>
          <p:nvPr>
            <p:ph type="body" idx="1"/>
          </p:nvPr>
        </p:nvSpPr>
        <p:spPr/>
        <p:txBody>
          <a:bodyPr/>
          <a:lstStyle/>
          <a:p>
            <a:r>
              <a:t>Rekenvoorbeeld</a:t>
            </a:r>
          </a:p>
        </p:txBody>
      </p:sp>
      <p:sp>
        <p:nvSpPr>
          <p:cNvPr id="6" name="Title 5"/>
          <p:cNvSpPr>
            <a:spLocks noGrp="1"/>
          </p:cNvSpPr>
          <p:nvPr>
            <p:ph type="title"/>
          </p:nvPr>
        </p:nvSpPr>
        <p:spPr/>
        <p:txBody>
          <a:bodyPr/>
          <a:lstStyle/>
          <a:p>
            <a:r>
              <a:t>Houd minstens 10 à 15 % vrij</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wrap="square"/>
          <a:lstStyle/>
          <a:p>
            <a:r>
              <a:rPr sz="1800" b="1">
                <a:latin typeface="Arial"/>
              </a:rPr>
              <a:t>Traag bij: </a:t>
            </a:r>
            <a:r>
              <a:rPr sz="1800">
                <a:latin typeface="Arial"/>
              </a:rPr>
              <a:t>de eerste synchronisatie, duizenden foto's of grote video's, twee sync-apps tegelijk</a:t>
            </a:r>
          </a:p>
          <a:p>
            <a:r>
              <a:rPr sz="1800" b="1">
                <a:latin typeface="Arial"/>
              </a:rPr>
              <a:t>Onderbreken: </a:t>
            </a:r>
            <a:r>
              <a:rPr sz="1800">
                <a:latin typeface="Arial"/>
              </a:rPr>
              <a:t>OneDrive-wolkje → tandwiel → Synchronisatie onderbreken (2, 8 of 24 uur)</a:t>
            </a:r>
          </a:p>
          <a:p>
            <a:r>
              <a:rPr sz="1800" b="1">
                <a:latin typeface="Arial"/>
              </a:rPr>
              <a:t>Beperken: </a:t>
            </a:r>
            <a:r>
              <a:rPr sz="1800">
                <a:latin typeface="Arial"/>
              </a:rPr>
              <a:t>grote mappen niet naar deze pc (Instellingen → Account → Mappen kiezen)</a:t>
            </a:r>
          </a:p>
          <a:p>
            <a:r>
              <a:rPr sz="1800" b="1">
                <a:latin typeface="Arial"/>
              </a:rPr>
              <a:t>Opstarten: </a:t>
            </a:r>
            <a:r>
              <a:rPr sz="1800">
                <a:latin typeface="Arial"/>
              </a:rPr>
              <a:t>één sync-app per map; wat je niet gebruikt, start niet mee op (H2)</a:t>
            </a:r>
          </a:p>
          <a:p>
            <a:r>
              <a:rPr sz="1800" b="1">
                <a:solidFill>
                  <a:srgbClr val="2E9E46"/>
                </a:solidFill>
                <a:latin typeface="Arial"/>
              </a:rPr>
              <a:t>Synchronisatie is geen back-up: verwijderd is overal verwijderd.</a:t>
            </a:r>
          </a:p>
        </p:txBody>
      </p:sp>
      <p:sp>
        <p:nvSpPr>
          <p:cNvPr id="3" name="Text Placeholder 2"/>
          <p:cNvSpPr>
            <a:spLocks noGrp="1"/>
          </p:cNvSpPr>
          <p:nvPr>
            <p:ph type="body" idx="1"/>
          </p:nvPr>
        </p:nvSpPr>
        <p:spPr/>
        <p:txBody>
          <a:bodyPr/>
          <a:lstStyle/>
          <a:p>
            <a:r>
              <a:t>Pc en cloud gelijk houden kost internet, schijf en processor</a:t>
            </a:r>
          </a:p>
        </p:txBody>
      </p:sp>
      <p:sp>
        <p:nvSpPr>
          <p:cNvPr id="4" name="Title 3"/>
          <p:cNvSpPr>
            <a:spLocks noGrp="1"/>
          </p:cNvSpPr>
          <p:nvPr>
            <p:ph type="title"/>
          </p:nvPr>
        </p:nvSpPr>
        <p:spPr/>
        <p:txBody>
          <a:bodyPr/>
          <a:lstStyle/>
          <a:p>
            <a:r>
              <a:t>Synchronisatie: OneDrive en co.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Bestanden op aanvraag: ruimte besparen</a:t>
            </a:r>
          </a:p>
        </p:txBody>
      </p:sp>
      <p:sp>
        <p:nvSpPr>
          <p:cNvPr id="3" name="Rounded Rectangle 2"/>
          <p:cNvSpPr/>
          <p:nvPr/>
        </p:nvSpPr>
        <p:spPr>
          <a:xfrm>
            <a:off x="841248" y="2103120"/>
            <a:ext cx="2468880" cy="1965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200">
                <a:solidFill>
                  <a:srgbClr val="262626"/>
                </a:solidFill>
                <a:latin typeface="Arial"/>
              </a:rPr>
              <a:t/>
            </a:r>
          </a:p>
        </p:txBody>
      </p:sp>
      <p:sp>
        <p:nvSpPr>
          <p:cNvPr id="4" name="Cloud 3"/>
          <p:cNvSpPr/>
          <p:nvPr/>
        </p:nvSpPr>
        <p:spPr>
          <a:xfrm>
            <a:off x="1709928" y="2286000"/>
            <a:ext cx="731520" cy="502920"/>
          </a:xfrm>
          <a:prstGeom prst="cloud">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944368"/>
            <a:ext cx="2139696" cy="1097280"/>
          </a:xfrm>
          <a:prstGeom prst="rect">
            <a:avLst/>
          </a:prstGeom>
          <a:noFill/>
        </p:spPr>
        <p:txBody>
          <a:bodyPr wrap="square" lIns="0" rIns="0">
            <a:spAutoFit/>
          </a:bodyPr>
          <a:lstStyle/>
          <a:p>
            <a:r>
              <a:rPr sz="1500" b="1">
                <a:solidFill>
                  <a:srgbClr val="203157"/>
                </a:solidFill>
                <a:latin typeface="Arial"/>
              </a:rPr>
              <a:t>Blauw wolkje</a:t>
            </a:r>
          </a:p>
          <a:p>
            <a:r>
              <a:rPr sz="1400">
                <a:solidFill>
                  <a:srgbClr val="262626"/>
                </a:solidFill>
                <a:latin typeface="Arial"/>
              </a:rPr>
              <a:t>alleen online, neemt geen ruimte in</a:t>
            </a:r>
          </a:p>
        </p:txBody>
      </p:sp>
      <p:sp>
        <p:nvSpPr>
          <p:cNvPr id="6" name="Rounded Rectangle 5"/>
          <p:cNvSpPr/>
          <p:nvPr/>
        </p:nvSpPr>
        <p:spPr>
          <a:xfrm>
            <a:off x="3538728" y="2103120"/>
            <a:ext cx="2468880" cy="1965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200">
                <a:solidFill>
                  <a:srgbClr val="262626"/>
                </a:solidFill>
                <a:latin typeface="Arial"/>
              </a:rPr>
              <a:t/>
            </a:r>
          </a:p>
        </p:txBody>
      </p:sp>
      <p:sp>
        <p:nvSpPr>
          <p:cNvPr id="7" name="Oval 6"/>
          <p:cNvSpPr/>
          <p:nvPr/>
        </p:nvSpPr>
        <p:spPr>
          <a:xfrm>
            <a:off x="4498848" y="2267712"/>
            <a:ext cx="548640" cy="548640"/>
          </a:xfrm>
          <a:prstGeom prst="ellipse">
            <a:avLst/>
          </a:prstGeom>
          <a:solidFill>
            <a:srgbClr val="FFFFFF"/>
          </a:solidFill>
          <a:ln w="31750">
            <a:solidFill>
              <a:srgbClr val="2E9E4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E9E46"/>
                </a:solidFill>
              </a:rPr>
              <a:t>✓</a:t>
            </a:r>
          </a:p>
        </p:txBody>
      </p:sp>
      <p:sp>
        <p:nvSpPr>
          <p:cNvPr id="8" name="TextBox 7"/>
          <p:cNvSpPr txBox="1"/>
          <p:nvPr/>
        </p:nvSpPr>
        <p:spPr>
          <a:xfrm>
            <a:off x="3703320" y="2944368"/>
            <a:ext cx="2139696" cy="1097280"/>
          </a:xfrm>
          <a:prstGeom prst="rect">
            <a:avLst/>
          </a:prstGeom>
          <a:noFill/>
        </p:spPr>
        <p:txBody>
          <a:bodyPr wrap="square" lIns="0" rIns="0">
            <a:spAutoFit/>
          </a:bodyPr>
          <a:lstStyle/>
          <a:p>
            <a:r>
              <a:rPr sz="1500" b="1">
                <a:solidFill>
                  <a:srgbClr val="203157"/>
                </a:solidFill>
                <a:latin typeface="Arial"/>
              </a:rPr>
              <a:t>Wit rondje, groen vinkje</a:t>
            </a:r>
          </a:p>
          <a:p>
            <a:r>
              <a:rPr sz="1400">
                <a:solidFill>
                  <a:srgbClr val="262626"/>
                </a:solidFill>
                <a:latin typeface="Arial"/>
              </a:rPr>
              <a:t>lokaal beschikbaar: geopend en gedownload</a:t>
            </a:r>
          </a:p>
        </p:txBody>
      </p:sp>
      <p:sp>
        <p:nvSpPr>
          <p:cNvPr id="9" name="Rounded Rectangle 8"/>
          <p:cNvSpPr/>
          <p:nvPr/>
        </p:nvSpPr>
        <p:spPr>
          <a:xfrm>
            <a:off x="6236208" y="2103120"/>
            <a:ext cx="2468880" cy="1965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200">
                <a:solidFill>
                  <a:srgbClr val="262626"/>
                </a:solidFill>
                <a:latin typeface="Arial"/>
              </a:rPr>
              <a:t/>
            </a:r>
          </a:p>
        </p:txBody>
      </p:sp>
      <p:sp>
        <p:nvSpPr>
          <p:cNvPr id="10" name="Oval 9"/>
          <p:cNvSpPr/>
          <p:nvPr/>
        </p:nvSpPr>
        <p:spPr>
          <a:xfrm>
            <a:off x="7196328" y="2267712"/>
            <a:ext cx="548640" cy="548640"/>
          </a:xfrm>
          <a:prstGeom prst="ellipse">
            <a:avLst/>
          </a:prstGeom>
          <a:solidFill>
            <a:srgbClr val="2E9E46"/>
          </a:solidFill>
          <a:ln w="31750">
            <a:solidFill>
              <a:srgbClr val="2E9E4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a:t>
            </a:r>
          </a:p>
        </p:txBody>
      </p:sp>
      <p:sp>
        <p:nvSpPr>
          <p:cNvPr id="11" name="TextBox 10"/>
          <p:cNvSpPr txBox="1"/>
          <p:nvPr/>
        </p:nvSpPr>
        <p:spPr>
          <a:xfrm>
            <a:off x="6400800" y="2944368"/>
            <a:ext cx="2139696" cy="1097280"/>
          </a:xfrm>
          <a:prstGeom prst="rect">
            <a:avLst/>
          </a:prstGeom>
          <a:noFill/>
        </p:spPr>
        <p:txBody>
          <a:bodyPr wrap="square" lIns="0" rIns="0">
            <a:spAutoFit/>
          </a:bodyPr>
          <a:lstStyle/>
          <a:p>
            <a:r>
              <a:rPr sz="1500" b="1">
                <a:solidFill>
                  <a:srgbClr val="203157"/>
                </a:solidFill>
                <a:latin typeface="Arial"/>
              </a:rPr>
              <a:t>Groen rondje, wit vinkje</a:t>
            </a:r>
          </a:p>
          <a:p>
            <a:r>
              <a:rPr sz="1400">
                <a:solidFill>
                  <a:srgbClr val="262626"/>
                </a:solidFill>
                <a:latin typeface="Arial"/>
              </a:rPr>
              <a:t>altijd behouden, ook offline</a:t>
            </a:r>
          </a:p>
        </p:txBody>
      </p:sp>
      <p:sp>
        <p:nvSpPr>
          <p:cNvPr id="12" name="Rounded Rectangle 11"/>
          <p:cNvSpPr/>
          <p:nvPr/>
        </p:nvSpPr>
        <p:spPr>
          <a:xfrm>
            <a:off x="8933688" y="2103120"/>
            <a:ext cx="2468880" cy="1965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200">
                <a:solidFill>
                  <a:srgbClr val="262626"/>
                </a:solidFill>
                <a:latin typeface="Arial"/>
              </a:rPr>
              <a:t/>
            </a:r>
          </a:p>
        </p:txBody>
      </p:sp>
      <p:sp>
        <p:nvSpPr>
          <p:cNvPr id="13" name="Circular Arrow 12"/>
          <p:cNvSpPr/>
          <p:nvPr/>
        </p:nvSpPr>
        <p:spPr>
          <a:xfrm>
            <a:off x="9893808" y="2267712"/>
            <a:ext cx="548640" cy="548640"/>
          </a:xfrm>
          <a:prstGeom prst="circularArrow">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944368"/>
            <a:ext cx="2139696" cy="1097280"/>
          </a:xfrm>
          <a:prstGeom prst="rect">
            <a:avLst/>
          </a:prstGeom>
          <a:noFill/>
        </p:spPr>
        <p:txBody>
          <a:bodyPr wrap="square" lIns="0" rIns="0">
            <a:spAutoFit/>
          </a:bodyPr>
          <a:lstStyle/>
          <a:p>
            <a:r>
              <a:rPr sz="1500" b="1">
                <a:solidFill>
                  <a:srgbClr val="203157"/>
                </a:solidFill>
                <a:latin typeface="Arial"/>
              </a:rPr>
              <a:t>Blauwe pijltjes</a:t>
            </a:r>
          </a:p>
          <a:p>
            <a:r>
              <a:rPr sz="1400">
                <a:solidFill>
                  <a:srgbClr val="262626"/>
                </a:solidFill>
                <a:latin typeface="Arial"/>
              </a:rPr>
              <a:t>bezig met synchroniseren</a:t>
            </a:r>
          </a:p>
        </p:txBody>
      </p:sp>
      <p:sp>
        <p:nvSpPr>
          <p:cNvPr id="15" name="TextBox 14"/>
          <p:cNvSpPr txBox="1"/>
          <p:nvPr/>
        </p:nvSpPr>
        <p:spPr>
          <a:xfrm>
            <a:off x="841248" y="4343400"/>
            <a:ext cx="10515600" cy="1188720"/>
          </a:xfrm>
          <a:prstGeom prst="rect">
            <a:avLst/>
          </a:prstGeom>
          <a:noFill/>
        </p:spPr>
        <p:txBody>
          <a:bodyPr wrap="square" lIns="0" rIns="0">
            <a:spAutoFit/>
          </a:bodyPr>
          <a:lstStyle/>
          <a:p>
            <a:r>
              <a:rPr sz="1700" b="1">
                <a:solidFill>
                  <a:srgbClr val="262626"/>
                </a:solidFill>
                <a:latin typeface="Arial"/>
              </a:rPr>
              <a:t>Ruimte vrijmaken: </a:t>
            </a:r>
            <a:r>
              <a:rPr sz="1700">
                <a:solidFill>
                  <a:srgbClr val="262626"/>
                </a:solidFill>
                <a:latin typeface="Arial"/>
              </a:rPr>
              <a:t>rechtsklik op een map → Ruimte vrijmaken. </a:t>
            </a:r>
            <a:r>
              <a:rPr sz="1700" b="1">
                <a:solidFill>
                  <a:srgbClr val="262626"/>
                </a:solidFill>
                <a:latin typeface="Arial"/>
              </a:rPr>
              <a:t>Opslagsensor </a:t>
            </a:r>
            <a:r>
              <a:rPr sz="1700">
                <a:solidFill>
                  <a:srgbClr val="262626"/>
                </a:solidFill>
                <a:latin typeface="Arial"/>
              </a:rPr>
              <a:t>(Instellingen → Systeem → Opslag) zet ongebruikte bestanden automatisch alleen online.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wrap="square"/>
          <a:lstStyle/>
          <a:p>
            <a:r>
              <a:rPr sz="1900">
                <a:latin typeface="Arial"/>
              </a:rPr>
              <a:t>H5 · vragen 29–34: updates, waar klik je?</a:t>
            </a:r>
          </a:p>
          <a:p>
            <a:r>
              <a:rPr sz="1900">
                <a:latin typeface="Arial"/>
              </a:rPr>
              <a:t>H6 · vragen 35–41: antivirus en soorten malware</a:t>
            </a:r>
          </a:p>
          <a:p>
            <a:r>
              <a:rPr sz="1900">
                <a:latin typeface="Arial"/>
              </a:rPr>
              <a:t>H7 · vragen 42–46: opstarten in de juiste volgorde</a:t>
            </a:r>
          </a:p>
          <a:p>
            <a:r>
              <a:rPr sz="1900">
                <a:latin typeface="Arial"/>
              </a:rPr>
              <a:t>H8 · vragen 47–54: schijven, vrije ruimte en gezondheid</a:t>
            </a:r>
          </a:p>
          <a:p>
            <a:r>
              <a:rPr sz="1900">
                <a:latin typeface="Arial"/>
              </a:rPr>
              <a:t>H9 · vragen 55–59: synchronisatie en cloudopslag</a:t>
            </a:r>
          </a:p>
          <a:p>
            <a:r>
              <a:rPr sz="1900">
                <a:solidFill>
                  <a:srgbClr val="2E9E46"/>
                </a:solidFill>
                <a:latin typeface="Arial"/>
              </a:rPr>
              <a:t>Klaar? Vraag 60: pc-dokter. Rekenmachine nodig voor vraag 48.</a:t>
            </a:r>
          </a:p>
        </p:txBody>
      </p:sp>
      <p:sp>
        <p:nvSpPr>
          <p:cNvPr id="3" name="Text Placeholder 2"/>
          <p:cNvSpPr>
            <a:spLocks noGrp="1"/>
          </p:cNvSpPr>
          <p:nvPr>
            <p:ph type="body" idx="1"/>
          </p:nvPr>
        </p:nvSpPr>
        <p:spPr/>
        <p:txBody>
          <a:bodyPr/>
          <a:lstStyle/>
          <a:p>
            <a:r>
              <a:t>Vragen 29–59 · 22 minuten · vraag 60 is extra</a:t>
            </a:r>
          </a:p>
        </p:txBody>
      </p:sp>
      <p:sp>
        <p:nvSpPr>
          <p:cNvPr id="4" name="Title 3"/>
          <p:cNvSpPr>
            <a:spLocks noGrp="1"/>
          </p:cNvSpPr>
          <p:nvPr>
            <p:ph type="title"/>
          </p:nvPr>
        </p:nvSpPr>
        <p:spPr/>
        <p:txBody>
          <a:bodyPr/>
          <a:lstStyle/>
          <a:p>
            <a:r>
              <a:t>Werkblad deel 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Aan de slag in de app</a:t>
            </a:r>
          </a:p>
        </p:txBody>
      </p:sp>
      <p:sp>
        <p:nvSpPr>
          <p:cNvPr id="3" name="Rounded Rectangle 2"/>
          <p:cNvSpPr/>
          <p:nvPr/>
        </p:nvSpPr>
        <p:spPr>
          <a:xfrm>
            <a:off x="841248" y="2103120"/>
            <a:ext cx="251460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1 · Oefenen</a:t>
            </a:r>
          </a:p>
          <a:p>
            <a:pPr algn="l"/>
            <a:r>
              <a:rPr sz="1500">
                <a:solidFill>
                  <a:srgbClr val="262626"/>
                </a:solidFill>
                <a:latin typeface="Arial"/>
              </a:rPr>
              <a:t>11:32–11:42 · elke oefening minstens 1 juist</a:t>
            </a:r>
          </a:p>
        </p:txBody>
      </p:sp>
      <p:sp>
        <p:nvSpPr>
          <p:cNvPr id="4" name="Rounded Rectangle 3"/>
          <p:cNvSpPr/>
          <p:nvPr/>
        </p:nvSpPr>
        <p:spPr>
          <a:xfrm>
            <a:off x="3538728" y="2103120"/>
            <a:ext cx="251460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2 · Eindtoets</a:t>
            </a:r>
          </a:p>
          <a:p>
            <a:pPr algn="l"/>
            <a:r>
              <a:rPr sz="1500">
                <a:solidFill>
                  <a:srgbClr val="262626"/>
                </a:solidFill>
                <a:latin typeface="Arial"/>
              </a:rPr>
              <a:t>11:42–11:58 · 30 vragen, screenshot van je rapport</a:t>
            </a:r>
          </a:p>
        </p:txBody>
      </p:sp>
      <p:sp>
        <p:nvSpPr>
          <p:cNvPr id="5" name="Rounded Rectangle 4"/>
          <p:cNvSpPr/>
          <p:nvPr/>
        </p:nvSpPr>
        <p:spPr>
          <a:xfrm>
            <a:off x="841248" y="3840480"/>
            <a:ext cx="5212080" cy="1005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r>
              <a:rPr sz="1800" b="1">
                <a:solidFill>
                  <a:srgbClr val="2E9E46"/>
                </a:solidFill>
                <a:latin typeface="Arial"/>
              </a:rPr>
              <a:t>Praktijk (extra)</a:t>
            </a:r>
          </a:p>
          <a:p>
            <a:pPr algn="l"/>
            <a:r>
              <a:rPr sz="1500">
                <a:solidFill>
                  <a:srgbClr val="262626"/>
                </a:solidFill>
                <a:latin typeface="Arial"/>
              </a:rPr>
              <a:t>onderzoek je eigen pc en maak een diagnose</a:t>
            </a:r>
          </a:p>
        </p:txBody>
      </p:sp>
      <p:sp>
        <p:nvSpPr>
          <p:cNvPr id="6" name="TextBox 5"/>
          <p:cNvSpPr txBox="1"/>
          <p:nvPr/>
        </p:nvSpPr>
        <p:spPr>
          <a:xfrm>
            <a:off x="841248" y="5074920"/>
            <a:ext cx="6035040" cy="731520"/>
          </a:xfrm>
          <a:prstGeom prst="rect">
            <a:avLst/>
          </a:prstGeom>
          <a:noFill/>
        </p:spPr>
        <p:txBody>
          <a:bodyPr wrap="square" lIns="0" rIns="0">
            <a:spAutoFit/>
          </a:bodyPr>
          <a:lstStyle/>
          <a:p>
            <a:r>
              <a:rPr sz="1800" b="1">
                <a:solidFill>
                  <a:srgbClr val="203157"/>
                </a:solidFill>
                <a:latin typeface="Arial"/>
              </a:rPr>
              <a:t>claude.ai/artifact/WZUf5zMfxe5ntH6i5wrBM1</a:t>
            </a:r>
          </a:p>
        </p:txBody>
      </p:sp>
      <p:pic>
        <p:nvPicPr>
          <p:cNvPr id="7" name="Picture 6" descr="qr-app.png"/>
          <p:cNvPicPr>
            <a:picLocks noChangeAspect="1"/>
          </p:cNvPicPr>
          <p:nvPr/>
        </p:nvPicPr>
        <p:blipFill>
          <a:blip r:embed="rId3"/>
          <a:stretch>
            <a:fillRect/>
          </a:stretch>
        </p:blipFill>
        <p:spPr>
          <a:xfrm>
            <a:off x="8321040" y="2103120"/>
            <a:ext cx="2743200" cy="2743200"/>
          </a:xfrm>
          <a:prstGeom prst="rect">
            <a:avLst/>
          </a:prstGeom>
        </p:spPr>
      </p:pic>
      <p:sp>
        <p:nvSpPr>
          <p:cNvPr id="8" name="TextBox 7"/>
          <p:cNvSpPr txBox="1"/>
          <p:nvPr/>
        </p:nvSpPr>
        <p:spPr>
          <a:xfrm>
            <a:off x="8321040" y="4937760"/>
            <a:ext cx="2743200" cy="457200"/>
          </a:xfrm>
          <a:prstGeom prst="rect">
            <a:avLst/>
          </a:prstGeom>
          <a:noFill/>
        </p:spPr>
        <p:txBody>
          <a:bodyPr wrap="square" lIns="0" rIns="0">
            <a:spAutoFit/>
          </a:bodyPr>
          <a:lstStyle/>
          <a:p>
            <a:r>
              <a:rPr sz="1400">
                <a:solidFill>
                  <a:srgbClr val="262626"/>
                </a:solidFill>
                <a:latin typeface="Arial"/>
              </a:rPr>
              <a:t>Scan de QR-code</a:t>
            </a:r>
          </a:p>
        </p:txBody>
      </p:sp>
    </p:spTree>
  </p:cSld>
  <p:clrMapOvr>
    <a:masterClrMapping/>
  </p:clrMapOvr>
</p:sld>
</file>

<file path=ppt/theme/theme1.xml><?xml version="1.0" encoding="utf-8"?>
<a:theme xmlns:a="http://schemas.openxmlformats.org/drawingml/2006/main" name="Titel met opsomming">
  <a:themeElements>
    <a:clrScheme name="Aangepast 2">
      <a:dk1>
        <a:sysClr val="windowText" lastClr="000000"/>
      </a:dk1>
      <a:lt1>
        <a:sysClr val="window" lastClr="FFFFFF"/>
      </a:lt1>
      <a:dk2>
        <a:srgbClr val="44546A"/>
      </a:dk2>
      <a:lt2>
        <a:srgbClr val="E7E6E6"/>
      </a:lt2>
      <a:accent1>
        <a:srgbClr val="203157"/>
      </a:accent1>
      <a:accent2>
        <a:srgbClr val="ED7D31"/>
      </a:accent2>
      <a:accent3>
        <a:srgbClr val="A5A5A5"/>
      </a:accent3>
      <a:accent4>
        <a:srgbClr val="FFC000"/>
      </a:accent4>
      <a:accent5>
        <a:srgbClr val="4472C4"/>
      </a:accent5>
      <a:accent6>
        <a:srgbClr val="2E9E46"/>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211015B82B4E40B1AD7E1365EF9B96" ma:contentTypeVersion="14" ma:contentTypeDescription="Een nieuw document maken." ma:contentTypeScope="" ma:versionID="667a32d487500600ad43034f27226f2b">
  <xsd:schema xmlns:xsd="http://www.w3.org/2001/XMLSchema" xmlns:xs="http://www.w3.org/2001/XMLSchema" xmlns:p="http://schemas.microsoft.com/office/2006/metadata/properties" xmlns:ns2="291812a5-2720-4dd3-b430-919566aa352f" xmlns:ns3="0822df66-228e-4048-b51d-a79421d65779" targetNamespace="http://schemas.microsoft.com/office/2006/metadata/properties" ma:root="true" ma:fieldsID="58047819a32632063f3c8bad87f8770e" ns2:_="" ns3:_="">
    <xsd:import namespace="291812a5-2720-4dd3-b430-919566aa352f"/>
    <xsd:import namespace="0822df66-228e-4048-b51d-a79421d657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FormulierdownloadenopPComintevullen"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1812a5-2720-4dd3-b430-919566aa352f"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element name="TaxCatchAll" ma:index="14" nillable="true" ma:displayName="Taxonomy Catch All Column" ma:hidden="true" ma:list="{530d24ba-0d90-4051-9e85-df17b101cb1c}" ma:internalName="TaxCatchAll" ma:showField="CatchAllData" ma:web="291812a5-2720-4dd3-b430-919566aa352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822df66-228e-4048-b51d-a79421d65779"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Afbeeldingtags" ma:readOnly="false" ma:fieldId="{5cf76f15-5ced-4ddc-b409-7134ff3c332f}" ma:taxonomyMulti="true" ma:sspId="88d6bced-04e9-4070-816d-b83e3de1bbe2"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FormulierdownloadenopPComintevullen" ma:index="19" nillable="true" ma:displayName="Extra info" ma:format="Dropdown" ma:internalName="FormulierdownloadenopPComintevullen">
      <xsd:simpleType>
        <xsd:restriction base="dms:Text">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822df66-228e-4048-b51d-a79421d65779">
      <Terms xmlns="http://schemas.microsoft.com/office/infopath/2007/PartnerControls"/>
    </lcf76f155ced4ddcb4097134ff3c332f>
    <TaxCatchAll xmlns="291812a5-2720-4dd3-b430-919566aa352f" xsi:nil="true"/>
    <FormulierdownloadenopPComintevullen xmlns="0822df66-228e-4048-b51d-a79421d65779" xsi:nil="true"/>
  </documentManagement>
</p:properties>
</file>

<file path=customXml/itemProps1.xml><?xml version="1.0" encoding="utf-8"?>
<ds:datastoreItem xmlns:ds="http://schemas.openxmlformats.org/officeDocument/2006/customXml" ds:itemID="{F5E630C3-4D8C-4AEE-B23F-8B6519E950FA}"/>
</file>

<file path=customXml/itemProps2.xml><?xml version="1.0" encoding="utf-8"?>
<ds:datastoreItem xmlns:ds="http://schemas.openxmlformats.org/officeDocument/2006/customXml" ds:itemID="{42EB7737-4522-4ED2-BDFF-8E58C3352F36}"/>
</file>

<file path=customXml/itemProps3.xml><?xml version="1.0" encoding="utf-8"?>
<ds:datastoreItem xmlns:ds="http://schemas.openxmlformats.org/officeDocument/2006/customXml" ds:itemID="{EC97A5A2-D8A4-4926-A9C9-BE1A0C9B178D}"/>
</file>

<file path=docProps/app.xml><?xml version="1.0" encoding="utf-8"?>
<Properties xmlns="http://schemas.openxmlformats.org/officeDocument/2006/extended-properties" xmlns:vt="http://schemas.openxmlformats.org/officeDocument/2006/docPropsVTypes">
  <TotalTime>443</TotalTime>
  <Words>7</Words>
  <Application>Microsoft Office PowerPoint</Application>
  <PresentationFormat>Breedbeeld</PresentationFormat>
  <Paragraphs>7</Paragraphs>
  <Slides>3</Slides>
  <Notes>0</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3</vt:i4>
      </vt:variant>
    </vt:vector>
  </HeadingPairs>
  <TitlesOfParts>
    <vt:vector size="6" baseType="lpstr">
      <vt:lpstr>Arial</vt:lpstr>
      <vt:lpstr>Calibri</vt:lpstr>
      <vt:lpstr>Titel met opsomming</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Christelle Herwege</dc:creator>
  <cp:lastModifiedBy>Christelle Herwege</cp:lastModifiedBy>
  <cp:revision>44</cp:revision>
  <dcterms:created xsi:type="dcterms:W3CDTF">2020-04-20T14:09:25Z</dcterms:created>
  <dcterms:modified xsi:type="dcterms:W3CDTF">2020-04-28T19:38:29Z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0x01010034211015B82B4E40B1AD7E1365EF9B96</vt:lpwstr>
  </property>
</Properties>
</file>